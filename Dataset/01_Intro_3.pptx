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3" r:id="rId3"/>
    <p:sldId id="304" r:id="rId4"/>
    <p:sldId id="305" r:id="rId5"/>
    <p:sldId id="306" r:id="rId6"/>
    <p:sldId id="307" r:id="rId7"/>
    <p:sldId id="308" r:id="rId8"/>
    <p:sldId id="309" r:id="rId9"/>
    <p:sldId id="310" r:id="rId10"/>
    <p:sldId id="275" r:id="rId11"/>
    <p:sldId id="278" r:id="rId12"/>
    <p:sldId id="284" r:id="rId13"/>
    <p:sldId id="285" r:id="rId14"/>
    <p:sldId id="283" r:id="rId15"/>
    <p:sldId id="286" r:id="rId16"/>
    <p:sldId id="287" r:id="rId17"/>
    <p:sldId id="288" r:id="rId18"/>
    <p:sldId id="312" r:id="rId19"/>
    <p:sldId id="289" r:id="rId20"/>
    <p:sldId id="311" r:id="rId21"/>
    <p:sldId id="313" r:id="rId22"/>
    <p:sldId id="314" r:id="rId23"/>
    <p:sldId id="315" r:id="rId24"/>
    <p:sldId id="316" r:id="rId25"/>
    <p:sldId id="317" r:id="rId26"/>
    <p:sldId id="318" r:id="rId27"/>
    <p:sldId id="319" r:id="rId28"/>
    <p:sldId id="320" r:id="rId29"/>
    <p:sldId id="321" r:id="rId30"/>
    <p:sldId id="322" r:id="rId31"/>
    <p:sldId id="323" r:id="rId32"/>
    <p:sldId id="327" r:id="rId33"/>
    <p:sldId id="32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30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5T02:18:43.905"/>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1 74,'116'2,"128"-5,-157-8,-51 6,48-2,-79 7,0-1,0 0,0 1,0-1,0-1,0 1,0-1,0 0,0 0,-1-1,7-3,8-5,-11 8,-1 0,1 0,0 1,0 0,0 0,1 1,9 0,63 1,-43 2,549-1,-572-1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5T02:18:49.970"/>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0 24,'229'1,"256"-3,-290-9,65-1,653 13,-893-1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5T02:26:00.497"/>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0 1,'3009'0,"-2995"1,0 0,25 6,19 3,380 42,-209-12,-187-34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1E5CC-A1FC-4B78-939C-E16B878C04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7C09655-6A86-428C-9FD5-1A0AAC3043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697DC72-0FC1-4888-ADAF-7C5B63777629}"/>
              </a:ext>
            </a:extLst>
          </p:cNvPr>
          <p:cNvSpPr>
            <a:spLocks noGrp="1"/>
          </p:cNvSpPr>
          <p:nvPr>
            <p:ph type="dt" sz="half" idx="10"/>
          </p:nvPr>
        </p:nvSpPr>
        <p:spPr/>
        <p:txBody>
          <a:bodyPr/>
          <a:lstStyle/>
          <a:p>
            <a:fld id="{DED661B1-788B-4F3C-BCDB-2CF68E8FC572}" type="datetimeFigureOut">
              <a:rPr lang="en-IN" smtClean="0"/>
              <a:t>15-02-2026</a:t>
            </a:fld>
            <a:endParaRPr lang="en-IN"/>
          </a:p>
        </p:txBody>
      </p:sp>
      <p:sp>
        <p:nvSpPr>
          <p:cNvPr id="5" name="Footer Placeholder 4">
            <a:extLst>
              <a:ext uri="{FF2B5EF4-FFF2-40B4-BE49-F238E27FC236}">
                <a16:creationId xmlns:a16="http://schemas.microsoft.com/office/drawing/2014/main" id="{479A9D4B-9B36-4351-8BDE-71DB8F910E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3C3F0C-7CCF-40A7-B78F-F63CD143ED6A}"/>
              </a:ext>
            </a:extLst>
          </p:cNvPr>
          <p:cNvSpPr>
            <a:spLocks noGrp="1"/>
          </p:cNvSpPr>
          <p:nvPr>
            <p:ph type="sldNum" sz="quarter" idx="12"/>
          </p:nvPr>
        </p:nvSpPr>
        <p:spPr/>
        <p:txBody>
          <a:bodyPr/>
          <a:lstStyle/>
          <a:p>
            <a:fld id="{3414B492-53B1-4851-B404-586E75FC162C}" type="slidenum">
              <a:rPr lang="en-IN" smtClean="0"/>
              <a:t>‹#›</a:t>
            </a:fld>
            <a:endParaRPr lang="en-IN"/>
          </a:p>
        </p:txBody>
      </p:sp>
    </p:spTree>
    <p:extLst>
      <p:ext uri="{BB962C8B-B14F-4D97-AF65-F5344CB8AC3E}">
        <p14:creationId xmlns:p14="http://schemas.microsoft.com/office/powerpoint/2010/main" val="4201363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F4FCE-6FCF-484B-82CB-19737C210C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2B8E5A9-E081-4647-9536-2FE39DF3A9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397837-C9D2-4624-A872-B0028280AFAF}"/>
              </a:ext>
            </a:extLst>
          </p:cNvPr>
          <p:cNvSpPr>
            <a:spLocks noGrp="1"/>
          </p:cNvSpPr>
          <p:nvPr>
            <p:ph type="dt" sz="half" idx="10"/>
          </p:nvPr>
        </p:nvSpPr>
        <p:spPr/>
        <p:txBody>
          <a:bodyPr/>
          <a:lstStyle/>
          <a:p>
            <a:fld id="{DED661B1-788B-4F3C-BCDB-2CF68E8FC572}" type="datetimeFigureOut">
              <a:rPr lang="en-IN" smtClean="0"/>
              <a:t>15-02-2026</a:t>
            </a:fld>
            <a:endParaRPr lang="en-IN"/>
          </a:p>
        </p:txBody>
      </p:sp>
      <p:sp>
        <p:nvSpPr>
          <p:cNvPr id="5" name="Footer Placeholder 4">
            <a:extLst>
              <a:ext uri="{FF2B5EF4-FFF2-40B4-BE49-F238E27FC236}">
                <a16:creationId xmlns:a16="http://schemas.microsoft.com/office/drawing/2014/main" id="{5049899D-2AEB-4419-A485-01C109631D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1D5618-0576-49DA-BE0C-D40B40245B66}"/>
              </a:ext>
            </a:extLst>
          </p:cNvPr>
          <p:cNvSpPr>
            <a:spLocks noGrp="1"/>
          </p:cNvSpPr>
          <p:nvPr>
            <p:ph type="sldNum" sz="quarter" idx="12"/>
          </p:nvPr>
        </p:nvSpPr>
        <p:spPr/>
        <p:txBody>
          <a:bodyPr/>
          <a:lstStyle/>
          <a:p>
            <a:fld id="{3414B492-53B1-4851-B404-586E75FC162C}" type="slidenum">
              <a:rPr lang="en-IN" smtClean="0"/>
              <a:t>‹#›</a:t>
            </a:fld>
            <a:endParaRPr lang="en-IN"/>
          </a:p>
        </p:txBody>
      </p:sp>
    </p:spTree>
    <p:extLst>
      <p:ext uri="{BB962C8B-B14F-4D97-AF65-F5344CB8AC3E}">
        <p14:creationId xmlns:p14="http://schemas.microsoft.com/office/powerpoint/2010/main" val="2078460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9FE8C-F354-4D44-863F-057A90F621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78E08CF-53C7-4E28-B62A-19BF2F057A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96F4FD-92B0-443C-AC93-AB1A35CB64C3}"/>
              </a:ext>
            </a:extLst>
          </p:cNvPr>
          <p:cNvSpPr>
            <a:spLocks noGrp="1"/>
          </p:cNvSpPr>
          <p:nvPr>
            <p:ph type="dt" sz="half" idx="10"/>
          </p:nvPr>
        </p:nvSpPr>
        <p:spPr/>
        <p:txBody>
          <a:bodyPr/>
          <a:lstStyle/>
          <a:p>
            <a:fld id="{DED661B1-788B-4F3C-BCDB-2CF68E8FC572}" type="datetimeFigureOut">
              <a:rPr lang="en-IN" smtClean="0"/>
              <a:t>15-02-2026</a:t>
            </a:fld>
            <a:endParaRPr lang="en-IN"/>
          </a:p>
        </p:txBody>
      </p:sp>
      <p:sp>
        <p:nvSpPr>
          <p:cNvPr id="5" name="Footer Placeholder 4">
            <a:extLst>
              <a:ext uri="{FF2B5EF4-FFF2-40B4-BE49-F238E27FC236}">
                <a16:creationId xmlns:a16="http://schemas.microsoft.com/office/drawing/2014/main" id="{A6003B22-3E0B-4969-B736-AAD9F778F6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43490E-20AC-4DE3-A8A0-1186EFF7A0B3}"/>
              </a:ext>
            </a:extLst>
          </p:cNvPr>
          <p:cNvSpPr>
            <a:spLocks noGrp="1"/>
          </p:cNvSpPr>
          <p:nvPr>
            <p:ph type="sldNum" sz="quarter" idx="12"/>
          </p:nvPr>
        </p:nvSpPr>
        <p:spPr/>
        <p:txBody>
          <a:bodyPr/>
          <a:lstStyle/>
          <a:p>
            <a:fld id="{3414B492-53B1-4851-B404-586E75FC162C}" type="slidenum">
              <a:rPr lang="en-IN" smtClean="0"/>
              <a:t>‹#›</a:t>
            </a:fld>
            <a:endParaRPr lang="en-IN"/>
          </a:p>
        </p:txBody>
      </p:sp>
    </p:spTree>
    <p:extLst>
      <p:ext uri="{BB962C8B-B14F-4D97-AF65-F5344CB8AC3E}">
        <p14:creationId xmlns:p14="http://schemas.microsoft.com/office/powerpoint/2010/main" val="2848753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BCAB2-A768-476D-ABC3-B88B7034E12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9AFAB6-885F-4904-854F-62D9974916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2B0AE3E-C3D6-40C6-A355-9514E49CA2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8553A2A-995B-4E26-88E4-60A398A2910C}"/>
              </a:ext>
            </a:extLst>
          </p:cNvPr>
          <p:cNvSpPr>
            <a:spLocks noGrp="1"/>
          </p:cNvSpPr>
          <p:nvPr>
            <p:ph type="dt" sz="half" idx="10"/>
          </p:nvPr>
        </p:nvSpPr>
        <p:spPr/>
        <p:txBody>
          <a:bodyPr/>
          <a:lstStyle/>
          <a:p>
            <a:fld id="{DED661B1-788B-4F3C-BCDB-2CF68E8FC572}" type="datetimeFigureOut">
              <a:rPr lang="en-IN" smtClean="0"/>
              <a:t>15-02-2026</a:t>
            </a:fld>
            <a:endParaRPr lang="en-IN"/>
          </a:p>
        </p:txBody>
      </p:sp>
      <p:sp>
        <p:nvSpPr>
          <p:cNvPr id="6" name="Footer Placeholder 5">
            <a:extLst>
              <a:ext uri="{FF2B5EF4-FFF2-40B4-BE49-F238E27FC236}">
                <a16:creationId xmlns:a16="http://schemas.microsoft.com/office/drawing/2014/main" id="{426F2774-4140-4A0E-A27A-B070D054B6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12CE8B-3610-426E-9876-17DBBE5D11B8}"/>
              </a:ext>
            </a:extLst>
          </p:cNvPr>
          <p:cNvSpPr>
            <a:spLocks noGrp="1"/>
          </p:cNvSpPr>
          <p:nvPr>
            <p:ph type="sldNum" sz="quarter" idx="12"/>
          </p:nvPr>
        </p:nvSpPr>
        <p:spPr/>
        <p:txBody>
          <a:bodyPr/>
          <a:lstStyle/>
          <a:p>
            <a:fld id="{3414B492-53B1-4851-B404-586E75FC162C}" type="slidenum">
              <a:rPr lang="en-IN" smtClean="0"/>
              <a:t>‹#›</a:t>
            </a:fld>
            <a:endParaRPr lang="en-IN"/>
          </a:p>
        </p:txBody>
      </p:sp>
    </p:spTree>
    <p:extLst>
      <p:ext uri="{BB962C8B-B14F-4D97-AF65-F5344CB8AC3E}">
        <p14:creationId xmlns:p14="http://schemas.microsoft.com/office/powerpoint/2010/main" val="1266123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E4A88-FE08-46D6-B7FA-5D9D62E0058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F1DD3E-110D-4471-A890-2B6DE844BC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6F1CDA-2AD0-4DCA-8FB4-C4CA3779C4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261C025-F734-431F-93F2-9346C1C5A6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1627E8-BCCA-497E-9D29-687F2F0B2C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07FBCF8-D99F-4618-B0E7-1DAAD945DA3D}"/>
              </a:ext>
            </a:extLst>
          </p:cNvPr>
          <p:cNvSpPr>
            <a:spLocks noGrp="1"/>
          </p:cNvSpPr>
          <p:nvPr>
            <p:ph type="dt" sz="half" idx="10"/>
          </p:nvPr>
        </p:nvSpPr>
        <p:spPr/>
        <p:txBody>
          <a:bodyPr/>
          <a:lstStyle/>
          <a:p>
            <a:fld id="{DED661B1-788B-4F3C-BCDB-2CF68E8FC572}" type="datetimeFigureOut">
              <a:rPr lang="en-IN" smtClean="0"/>
              <a:t>15-02-2026</a:t>
            </a:fld>
            <a:endParaRPr lang="en-IN"/>
          </a:p>
        </p:txBody>
      </p:sp>
      <p:sp>
        <p:nvSpPr>
          <p:cNvPr id="8" name="Footer Placeholder 7">
            <a:extLst>
              <a:ext uri="{FF2B5EF4-FFF2-40B4-BE49-F238E27FC236}">
                <a16:creationId xmlns:a16="http://schemas.microsoft.com/office/drawing/2014/main" id="{3995281F-3960-4AE4-86F9-12A4A65B963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A48B73F-6136-4175-9F4B-730122241787}"/>
              </a:ext>
            </a:extLst>
          </p:cNvPr>
          <p:cNvSpPr>
            <a:spLocks noGrp="1"/>
          </p:cNvSpPr>
          <p:nvPr>
            <p:ph type="sldNum" sz="quarter" idx="12"/>
          </p:nvPr>
        </p:nvSpPr>
        <p:spPr/>
        <p:txBody>
          <a:bodyPr/>
          <a:lstStyle/>
          <a:p>
            <a:fld id="{3414B492-53B1-4851-B404-586E75FC162C}" type="slidenum">
              <a:rPr lang="en-IN" smtClean="0"/>
              <a:t>‹#›</a:t>
            </a:fld>
            <a:endParaRPr lang="en-IN"/>
          </a:p>
        </p:txBody>
      </p:sp>
    </p:spTree>
    <p:extLst>
      <p:ext uri="{BB962C8B-B14F-4D97-AF65-F5344CB8AC3E}">
        <p14:creationId xmlns:p14="http://schemas.microsoft.com/office/powerpoint/2010/main" val="1285953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11264-B075-4DEC-B73C-F38786EF6C0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30032C5-BAF1-4B28-8907-EF5573F1EA4C}"/>
              </a:ext>
            </a:extLst>
          </p:cNvPr>
          <p:cNvSpPr>
            <a:spLocks noGrp="1"/>
          </p:cNvSpPr>
          <p:nvPr>
            <p:ph type="dt" sz="half" idx="10"/>
          </p:nvPr>
        </p:nvSpPr>
        <p:spPr/>
        <p:txBody>
          <a:bodyPr/>
          <a:lstStyle/>
          <a:p>
            <a:fld id="{DED661B1-788B-4F3C-BCDB-2CF68E8FC572}" type="datetimeFigureOut">
              <a:rPr lang="en-IN" smtClean="0"/>
              <a:t>15-02-2026</a:t>
            </a:fld>
            <a:endParaRPr lang="en-IN"/>
          </a:p>
        </p:txBody>
      </p:sp>
      <p:sp>
        <p:nvSpPr>
          <p:cNvPr id="4" name="Footer Placeholder 3">
            <a:extLst>
              <a:ext uri="{FF2B5EF4-FFF2-40B4-BE49-F238E27FC236}">
                <a16:creationId xmlns:a16="http://schemas.microsoft.com/office/drawing/2014/main" id="{6AB2569F-907D-49A1-B30F-C61A351E384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5C385E4-07F5-4B7D-9B39-E47DEB60B577}"/>
              </a:ext>
            </a:extLst>
          </p:cNvPr>
          <p:cNvSpPr>
            <a:spLocks noGrp="1"/>
          </p:cNvSpPr>
          <p:nvPr>
            <p:ph type="sldNum" sz="quarter" idx="12"/>
          </p:nvPr>
        </p:nvSpPr>
        <p:spPr/>
        <p:txBody>
          <a:bodyPr/>
          <a:lstStyle/>
          <a:p>
            <a:fld id="{3414B492-53B1-4851-B404-586E75FC162C}" type="slidenum">
              <a:rPr lang="en-IN" smtClean="0"/>
              <a:t>‹#›</a:t>
            </a:fld>
            <a:endParaRPr lang="en-IN"/>
          </a:p>
        </p:txBody>
      </p:sp>
    </p:spTree>
    <p:extLst>
      <p:ext uri="{BB962C8B-B14F-4D97-AF65-F5344CB8AC3E}">
        <p14:creationId xmlns:p14="http://schemas.microsoft.com/office/powerpoint/2010/main" val="29006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851373-958F-4941-B165-6FED6BC9DB39}"/>
              </a:ext>
            </a:extLst>
          </p:cNvPr>
          <p:cNvSpPr>
            <a:spLocks noGrp="1"/>
          </p:cNvSpPr>
          <p:nvPr>
            <p:ph type="dt" sz="half" idx="10"/>
          </p:nvPr>
        </p:nvSpPr>
        <p:spPr/>
        <p:txBody>
          <a:bodyPr/>
          <a:lstStyle/>
          <a:p>
            <a:fld id="{DED661B1-788B-4F3C-BCDB-2CF68E8FC572}" type="datetimeFigureOut">
              <a:rPr lang="en-IN" smtClean="0"/>
              <a:t>15-02-2026</a:t>
            </a:fld>
            <a:endParaRPr lang="en-IN"/>
          </a:p>
        </p:txBody>
      </p:sp>
      <p:sp>
        <p:nvSpPr>
          <p:cNvPr id="3" name="Footer Placeholder 2">
            <a:extLst>
              <a:ext uri="{FF2B5EF4-FFF2-40B4-BE49-F238E27FC236}">
                <a16:creationId xmlns:a16="http://schemas.microsoft.com/office/drawing/2014/main" id="{3B75EDC6-618B-4741-BFEB-2A2AD508234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9120C3D-9E2A-498C-8B6D-47F5A03515D3}"/>
              </a:ext>
            </a:extLst>
          </p:cNvPr>
          <p:cNvSpPr>
            <a:spLocks noGrp="1"/>
          </p:cNvSpPr>
          <p:nvPr>
            <p:ph type="sldNum" sz="quarter" idx="12"/>
          </p:nvPr>
        </p:nvSpPr>
        <p:spPr/>
        <p:txBody>
          <a:bodyPr/>
          <a:lstStyle/>
          <a:p>
            <a:fld id="{3414B492-53B1-4851-B404-586E75FC162C}" type="slidenum">
              <a:rPr lang="en-IN" smtClean="0"/>
              <a:t>‹#›</a:t>
            </a:fld>
            <a:endParaRPr lang="en-IN"/>
          </a:p>
        </p:txBody>
      </p:sp>
    </p:spTree>
    <p:extLst>
      <p:ext uri="{BB962C8B-B14F-4D97-AF65-F5344CB8AC3E}">
        <p14:creationId xmlns:p14="http://schemas.microsoft.com/office/powerpoint/2010/main" val="3717945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36D84-FF6B-4BFA-B6EB-8C1E5687C5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78E5782-E2AC-454B-AE89-BCDCC06A7E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0543E25-8A05-4D4A-82FC-D730B02D89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E813E6-4B03-4D36-8705-9D5244E8C192}"/>
              </a:ext>
            </a:extLst>
          </p:cNvPr>
          <p:cNvSpPr>
            <a:spLocks noGrp="1"/>
          </p:cNvSpPr>
          <p:nvPr>
            <p:ph type="dt" sz="half" idx="10"/>
          </p:nvPr>
        </p:nvSpPr>
        <p:spPr/>
        <p:txBody>
          <a:bodyPr/>
          <a:lstStyle/>
          <a:p>
            <a:fld id="{DED661B1-788B-4F3C-BCDB-2CF68E8FC572}" type="datetimeFigureOut">
              <a:rPr lang="en-IN" smtClean="0"/>
              <a:t>15-02-2026</a:t>
            </a:fld>
            <a:endParaRPr lang="en-IN"/>
          </a:p>
        </p:txBody>
      </p:sp>
      <p:sp>
        <p:nvSpPr>
          <p:cNvPr id="6" name="Footer Placeholder 5">
            <a:extLst>
              <a:ext uri="{FF2B5EF4-FFF2-40B4-BE49-F238E27FC236}">
                <a16:creationId xmlns:a16="http://schemas.microsoft.com/office/drawing/2014/main" id="{51058F51-AACE-4245-87A0-0355C9649D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1C03FF-4D6F-4E47-9814-FF8CF2F3099B}"/>
              </a:ext>
            </a:extLst>
          </p:cNvPr>
          <p:cNvSpPr>
            <a:spLocks noGrp="1"/>
          </p:cNvSpPr>
          <p:nvPr>
            <p:ph type="sldNum" sz="quarter" idx="12"/>
          </p:nvPr>
        </p:nvSpPr>
        <p:spPr/>
        <p:txBody>
          <a:bodyPr/>
          <a:lstStyle/>
          <a:p>
            <a:fld id="{3414B492-53B1-4851-B404-586E75FC162C}" type="slidenum">
              <a:rPr lang="en-IN" smtClean="0"/>
              <a:t>‹#›</a:t>
            </a:fld>
            <a:endParaRPr lang="en-IN"/>
          </a:p>
        </p:txBody>
      </p:sp>
    </p:spTree>
    <p:extLst>
      <p:ext uri="{BB962C8B-B14F-4D97-AF65-F5344CB8AC3E}">
        <p14:creationId xmlns:p14="http://schemas.microsoft.com/office/powerpoint/2010/main" val="2891617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FC136-E63F-4A4B-BDB9-C906C8B48F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C90E300-94B3-4A50-B2A4-209E430E89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01FE7F8-71A1-4C36-85F5-148D75BFB7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1A6A79-43B1-410A-B980-66685BA5412D}"/>
              </a:ext>
            </a:extLst>
          </p:cNvPr>
          <p:cNvSpPr>
            <a:spLocks noGrp="1"/>
          </p:cNvSpPr>
          <p:nvPr>
            <p:ph type="dt" sz="half" idx="10"/>
          </p:nvPr>
        </p:nvSpPr>
        <p:spPr/>
        <p:txBody>
          <a:bodyPr/>
          <a:lstStyle/>
          <a:p>
            <a:fld id="{DED661B1-788B-4F3C-BCDB-2CF68E8FC572}" type="datetimeFigureOut">
              <a:rPr lang="en-IN" smtClean="0"/>
              <a:t>15-02-2026</a:t>
            </a:fld>
            <a:endParaRPr lang="en-IN"/>
          </a:p>
        </p:txBody>
      </p:sp>
      <p:sp>
        <p:nvSpPr>
          <p:cNvPr id="6" name="Footer Placeholder 5">
            <a:extLst>
              <a:ext uri="{FF2B5EF4-FFF2-40B4-BE49-F238E27FC236}">
                <a16:creationId xmlns:a16="http://schemas.microsoft.com/office/drawing/2014/main" id="{95E7760B-869C-486E-B9C8-5F00ECAC902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372E562-BC6F-486F-A2BB-0FD0A1097D68}"/>
              </a:ext>
            </a:extLst>
          </p:cNvPr>
          <p:cNvSpPr>
            <a:spLocks noGrp="1"/>
          </p:cNvSpPr>
          <p:nvPr>
            <p:ph type="sldNum" sz="quarter" idx="12"/>
          </p:nvPr>
        </p:nvSpPr>
        <p:spPr/>
        <p:txBody>
          <a:bodyPr/>
          <a:lstStyle/>
          <a:p>
            <a:fld id="{3414B492-53B1-4851-B404-586E75FC162C}" type="slidenum">
              <a:rPr lang="en-IN" smtClean="0"/>
              <a:t>‹#›</a:t>
            </a:fld>
            <a:endParaRPr lang="en-IN"/>
          </a:p>
        </p:txBody>
      </p:sp>
    </p:spTree>
    <p:extLst>
      <p:ext uri="{BB962C8B-B14F-4D97-AF65-F5344CB8AC3E}">
        <p14:creationId xmlns:p14="http://schemas.microsoft.com/office/powerpoint/2010/main" val="1290128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F1DDA-B275-4C7C-AAC1-ECCE457B7E4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A9B081-A72E-41AD-96A9-EF0D2293D9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9F3DF9-68DD-4139-A7B2-9E5AEF6F5764}"/>
              </a:ext>
            </a:extLst>
          </p:cNvPr>
          <p:cNvSpPr>
            <a:spLocks noGrp="1"/>
          </p:cNvSpPr>
          <p:nvPr>
            <p:ph type="dt" sz="half" idx="10"/>
          </p:nvPr>
        </p:nvSpPr>
        <p:spPr/>
        <p:txBody>
          <a:bodyPr/>
          <a:lstStyle/>
          <a:p>
            <a:fld id="{DED661B1-788B-4F3C-BCDB-2CF68E8FC572}" type="datetimeFigureOut">
              <a:rPr lang="en-IN" smtClean="0"/>
              <a:t>15-02-2026</a:t>
            </a:fld>
            <a:endParaRPr lang="en-IN"/>
          </a:p>
        </p:txBody>
      </p:sp>
      <p:sp>
        <p:nvSpPr>
          <p:cNvPr id="5" name="Footer Placeholder 4">
            <a:extLst>
              <a:ext uri="{FF2B5EF4-FFF2-40B4-BE49-F238E27FC236}">
                <a16:creationId xmlns:a16="http://schemas.microsoft.com/office/drawing/2014/main" id="{8560EB72-E6E8-49AF-A066-BC1E9E953A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C23CB7-666C-40A6-88BF-31375431DF5E}"/>
              </a:ext>
            </a:extLst>
          </p:cNvPr>
          <p:cNvSpPr>
            <a:spLocks noGrp="1"/>
          </p:cNvSpPr>
          <p:nvPr>
            <p:ph type="sldNum" sz="quarter" idx="12"/>
          </p:nvPr>
        </p:nvSpPr>
        <p:spPr/>
        <p:txBody>
          <a:bodyPr/>
          <a:lstStyle/>
          <a:p>
            <a:fld id="{3414B492-53B1-4851-B404-586E75FC162C}" type="slidenum">
              <a:rPr lang="en-IN" smtClean="0"/>
              <a:t>‹#›</a:t>
            </a:fld>
            <a:endParaRPr lang="en-IN"/>
          </a:p>
        </p:txBody>
      </p:sp>
    </p:spTree>
    <p:extLst>
      <p:ext uri="{BB962C8B-B14F-4D97-AF65-F5344CB8AC3E}">
        <p14:creationId xmlns:p14="http://schemas.microsoft.com/office/powerpoint/2010/main" val="2858656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289B94-4C17-4D33-905D-1C4E618A59D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4B4BB2A-CF27-42C0-910D-C43C5F5157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821517-8C2F-461F-8C4C-4E912A5496B1}"/>
              </a:ext>
            </a:extLst>
          </p:cNvPr>
          <p:cNvSpPr>
            <a:spLocks noGrp="1"/>
          </p:cNvSpPr>
          <p:nvPr>
            <p:ph type="dt" sz="half" idx="10"/>
          </p:nvPr>
        </p:nvSpPr>
        <p:spPr/>
        <p:txBody>
          <a:bodyPr/>
          <a:lstStyle/>
          <a:p>
            <a:fld id="{DED661B1-788B-4F3C-BCDB-2CF68E8FC572}" type="datetimeFigureOut">
              <a:rPr lang="en-IN" smtClean="0"/>
              <a:t>15-02-2026</a:t>
            </a:fld>
            <a:endParaRPr lang="en-IN"/>
          </a:p>
        </p:txBody>
      </p:sp>
      <p:sp>
        <p:nvSpPr>
          <p:cNvPr id="5" name="Footer Placeholder 4">
            <a:extLst>
              <a:ext uri="{FF2B5EF4-FFF2-40B4-BE49-F238E27FC236}">
                <a16:creationId xmlns:a16="http://schemas.microsoft.com/office/drawing/2014/main" id="{B1A075BE-D13D-49F8-9780-3D35FC9FE0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41DA28-8C87-4BFE-BC9B-41387EA88A5A}"/>
              </a:ext>
            </a:extLst>
          </p:cNvPr>
          <p:cNvSpPr>
            <a:spLocks noGrp="1"/>
          </p:cNvSpPr>
          <p:nvPr>
            <p:ph type="sldNum" sz="quarter" idx="12"/>
          </p:nvPr>
        </p:nvSpPr>
        <p:spPr/>
        <p:txBody>
          <a:bodyPr/>
          <a:lstStyle/>
          <a:p>
            <a:fld id="{3414B492-53B1-4851-B404-586E75FC162C}" type="slidenum">
              <a:rPr lang="en-IN" smtClean="0"/>
              <a:t>‹#›</a:t>
            </a:fld>
            <a:endParaRPr lang="en-IN"/>
          </a:p>
        </p:txBody>
      </p:sp>
    </p:spTree>
    <p:extLst>
      <p:ext uri="{BB962C8B-B14F-4D97-AF65-F5344CB8AC3E}">
        <p14:creationId xmlns:p14="http://schemas.microsoft.com/office/powerpoint/2010/main" val="3046944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C1497E-67AE-46EF-A880-C0DE4D29EA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92EE8C8-CF73-4C70-8A79-CA7E7E22DD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8407F1-9088-4152-9E59-68730EC893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D661B1-788B-4F3C-BCDB-2CF68E8FC572}" type="datetimeFigureOut">
              <a:rPr lang="en-IN" smtClean="0"/>
              <a:t>15-02-2026</a:t>
            </a:fld>
            <a:endParaRPr lang="en-IN"/>
          </a:p>
        </p:txBody>
      </p:sp>
      <p:sp>
        <p:nvSpPr>
          <p:cNvPr id="5" name="Footer Placeholder 4">
            <a:extLst>
              <a:ext uri="{FF2B5EF4-FFF2-40B4-BE49-F238E27FC236}">
                <a16:creationId xmlns:a16="http://schemas.microsoft.com/office/drawing/2014/main" id="{3E46093A-D4B4-40B8-901C-16B9C08C09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46932FE-9B1D-466E-95A7-DDB948FB69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14B492-53B1-4851-B404-586E75FC162C}" type="slidenum">
              <a:rPr lang="en-IN" smtClean="0"/>
              <a:t>‹#›</a:t>
            </a:fld>
            <a:endParaRPr lang="en-IN"/>
          </a:p>
        </p:txBody>
      </p:sp>
    </p:spTree>
    <p:extLst>
      <p:ext uri="{BB962C8B-B14F-4D97-AF65-F5344CB8AC3E}">
        <p14:creationId xmlns:p14="http://schemas.microsoft.com/office/powerpoint/2010/main" val="1038294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50.png"/><Relationship Id="rId5" Type="http://schemas.openxmlformats.org/officeDocument/2006/relationships/customXml" Target="../ink/ink2.xml"/><Relationship Id="rId4" Type="http://schemas.openxmlformats.org/officeDocument/2006/relationships/image" Target="../media/image14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amitchandakpbi/powerbi/blob/main/Sales%20Data%20for%20Fabric.xlsx"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60.png"/></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D2A9D-A9EC-4E98-B487-BECD270EEB2E}"/>
              </a:ext>
            </a:extLst>
          </p:cNvPr>
          <p:cNvSpPr>
            <a:spLocks noGrp="1"/>
          </p:cNvSpPr>
          <p:nvPr>
            <p:ph type="ctrTitle"/>
          </p:nvPr>
        </p:nvSpPr>
        <p:spPr/>
        <p:txBody>
          <a:bodyPr/>
          <a:lstStyle/>
          <a:p>
            <a:r>
              <a:rPr lang="en-US" dirty="0"/>
              <a:t>Intro_3</a:t>
            </a:r>
            <a:endParaRPr lang="en-IN" dirty="0"/>
          </a:p>
        </p:txBody>
      </p:sp>
      <p:sp>
        <p:nvSpPr>
          <p:cNvPr id="3" name="Subtitle 2">
            <a:extLst>
              <a:ext uri="{FF2B5EF4-FFF2-40B4-BE49-F238E27FC236}">
                <a16:creationId xmlns:a16="http://schemas.microsoft.com/office/drawing/2014/main" id="{737E105F-52DC-4263-9495-4B2834ADD3C8}"/>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35494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D59C4-8595-D61D-E49E-F51440E8B7F7}"/>
              </a:ext>
            </a:extLst>
          </p:cNvPr>
          <p:cNvSpPr>
            <a:spLocks noGrp="1"/>
          </p:cNvSpPr>
          <p:nvPr>
            <p:ph type="title"/>
          </p:nvPr>
        </p:nvSpPr>
        <p:spPr/>
        <p:txBody>
          <a:bodyPr/>
          <a:lstStyle/>
          <a:p>
            <a:r>
              <a:rPr lang="en-US" dirty="0"/>
              <a:t>Keys</a:t>
            </a:r>
          </a:p>
        </p:txBody>
      </p:sp>
      <p:sp>
        <p:nvSpPr>
          <p:cNvPr id="3" name="Content Placeholder 2">
            <a:extLst>
              <a:ext uri="{FF2B5EF4-FFF2-40B4-BE49-F238E27FC236}">
                <a16:creationId xmlns:a16="http://schemas.microsoft.com/office/drawing/2014/main" id="{5C6BB954-9828-193D-6B56-D012BD010C66}"/>
              </a:ext>
            </a:extLst>
          </p:cNvPr>
          <p:cNvSpPr>
            <a:spLocks noGrp="1"/>
          </p:cNvSpPr>
          <p:nvPr>
            <p:ph idx="1"/>
          </p:nvPr>
        </p:nvSpPr>
        <p:spPr/>
        <p:txBody>
          <a:bodyPr>
            <a:normAutofit fontScale="77500" lnSpcReduction="20000"/>
          </a:bodyPr>
          <a:lstStyle/>
          <a:p>
            <a:pPr algn="l">
              <a:buNone/>
            </a:pPr>
            <a:r>
              <a:rPr lang="en-US" b="0" i="0" dirty="0">
                <a:solidFill>
                  <a:srgbClr val="161616"/>
                </a:solidFill>
                <a:effectLst/>
                <a:latin typeface="Segoe UI" panose="020B0502040204020203" pitchFamily="34" charset="0"/>
              </a:rPr>
              <a:t>In addition to attribute columns, a dimension table contains a unique key column that uniquely identifies each row in the table. In fact, it's common for a dimension table to include two key columns:</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A </a:t>
            </a:r>
            <a:r>
              <a:rPr lang="en-US" b="0" i="1" dirty="0">
                <a:solidFill>
                  <a:srgbClr val="161616"/>
                </a:solidFill>
                <a:effectLst/>
                <a:latin typeface="Segoe UI" panose="020B0502040204020203" pitchFamily="34" charset="0"/>
              </a:rPr>
              <a:t>surrogate key</a:t>
            </a:r>
            <a:r>
              <a:rPr lang="en-US" b="0" i="0" dirty="0">
                <a:solidFill>
                  <a:srgbClr val="161616"/>
                </a:solidFill>
                <a:effectLst/>
                <a:latin typeface="Segoe UI" panose="020B0502040204020203" pitchFamily="34" charset="0"/>
              </a:rPr>
              <a:t> is a unique identifier for each row in the dimension table. It's often an integer value that is automatically generated by the database management system when a new row is inserted into the table.</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An </a:t>
            </a:r>
            <a:r>
              <a:rPr lang="en-US" b="0" i="1" dirty="0">
                <a:solidFill>
                  <a:srgbClr val="161616"/>
                </a:solidFill>
                <a:effectLst/>
                <a:latin typeface="Segoe UI" panose="020B0502040204020203" pitchFamily="34" charset="0"/>
              </a:rPr>
              <a:t>alternate key</a:t>
            </a:r>
            <a:r>
              <a:rPr lang="en-US" b="0" i="0" dirty="0">
                <a:solidFill>
                  <a:srgbClr val="161616"/>
                </a:solidFill>
                <a:effectLst/>
                <a:latin typeface="Segoe UI" panose="020B0502040204020203" pitchFamily="34" charset="0"/>
              </a:rPr>
              <a:t> is often a natural or business key that identifies a specific instance of an entity in the transactional source system - such as a product code or a customer ID.</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You need both surrogate and alternate keys in a data warehouse, because they serve different purposes. Surrogate keys are specific to the data warehouse and help to maintain consistency and accuracy in the data. Alternate keys on the other hand are specific to the source system and help to maintain traceability between the data warehouse and the source system.</a:t>
            </a:r>
          </a:p>
          <a:p>
            <a:endParaRPr lang="en-US" dirty="0"/>
          </a:p>
        </p:txBody>
      </p:sp>
    </p:spTree>
    <p:extLst>
      <p:ext uri="{BB962C8B-B14F-4D97-AF65-F5344CB8AC3E}">
        <p14:creationId xmlns:p14="http://schemas.microsoft.com/office/powerpoint/2010/main" val="4045306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242C4-409B-A0CB-FF14-17D0EE186538}"/>
              </a:ext>
            </a:extLst>
          </p:cNvPr>
          <p:cNvSpPr>
            <a:spLocks noGrp="1"/>
          </p:cNvSpPr>
          <p:nvPr>
            <p:ph type="title"/>
          </p:nvPr>
        </p:nvSpPr>
        <p:spPr/>
        <p:txBody>
          <a:bodyPr/>
          <a:lstStyle/>
          <a:p>
            <a:r>
              <a:rPr lang="en-US" dirty="0"/>
              <a:t>Special types</a:t>
            </a:r>
            <a:r>
              <a:rPr lang="en-US" b="1" i="0" dirty="0">
                <a:solidFill>
                  <a:srgbClr val="161616"/>
                </a:solidFill>
                <a:effectLst/>
                <a:latin typeface="Segoe UI" panose="020B0502040204020203" pitchFamily="34" charset="0"/>
              </a:rPr>
              <a:t> </a:t>
            </a:r>
            <a:r>
              <a:rPr lang="en-US" dirty="0"/>
              <a:t>of dimension tables</a:t>
            </a:r>
          </a:p>
        </p:txBody>
      </p:sp>
      <p:sp>
        <p:nvSpPr>
          <p:cNvPr id="3" name="Content Placeholder 2">
            <a:extLst>
              <a:ext uri="{FF2B5EF4-FFF2-40B4-BE49-F238E27FC236}">
                <a16:creationId xmlns:a16="http://schemas.microsoft.com/office/drawing/2014/main" id="{D612A345-38C0-9594-CF7F-3DFD06F32A7B}"/>
              </a:ext>
            </a:extLst>
          </p:cNvPr>
          <p:cNvSpPr>
            <a:spLocks noGrp="1"/>
          </p:cNvSpPr>
          <p:nvPr>
            <p:ph idx="1"/>
          </p:nvPr>
        </p:nvSpPr>
        <p:spPr/>
        <p:txBody>
          <a:bodyPr>
            <a:normAutofit fontScale="92500" lnSpcReduction="20000"/>
          </a:bodyPr>
          <a:lstStyle/>
          <a:p>
            <a:pPr algn="l">
              <a:buNone/>
            </a:pPr>
            <a:r>
              <a:rPr lang="en-US" b="0" i="0" dirty="0">
                <a:solidFill>
                  <a:srgbClr val="161616"/>
                </a:solidFill>
                <a:effectLst/>
                <a:latin typeface="Segoe UI" panose="020B0502040204020203" pitchFamily="34" charset="0"/>
              </a:rPr>
              <a:t>Special types of dimensions provide additional context and enable more comprehensive data analysis.</a:t>
            </a:r>
          </a:p>
          <a:p>
            <a:pPr algn="l">
              <a:buNone/>
            </a:pPr>
            <a:r>
              <a:rPr lang="en-US" b="0" i="1" dirty="0">
                <a:solidFill>
                  <a:srgbClr val="161616"/>
                </a:solidFill>
                <a:effectLst/>
                <a:latin typeface="Segoe UI" panose="020B0502040204020203" pitchFamily="34" charset="0"/>
              </a:rPr>
              <a:t>Time dimensions</a:t>
            </a:r>
            <a:r>
              <a:rPr lang="en-US" b="0" i="0" dirty="0">
                <a:solidFill>
                  <a:srgbClr val="161616"/>
                </a:solidFill>
                <a:effectLst/>
                <a:latin typeface="Segoe UI" panose="020B0502040204020203" pitchFamily="34" charset="0"/>
              </a:rPr>
              <a:t> provide information about the time period in which an event occurred. This table enables data analysts to aggregate data over temporal intervals. For example, a time dimension might include columns for the year, quarter, month, and day in which a sales order was placed.</a:t>
            </a:r>
          </a:p>
          <a:p>
            <a:pPr algn="l"/>
            <a:r>
              <a:rPr lang="en-US" b="0" i="1" dirty="0">
                <a:solidFill>
                  <a:srgbClr val="161616"/>
                </a:solidFill>
                <a:effectLst/>
                <a:latin typeface="Segoe UI" panose="020B0502040204020203" pitchFamily="34" charset="0"/>
              </a:rPr>
              <a:t>Slowly changing dimensions</a:t>
            </a:r>
            <a:r>
              <a:rPr lang="en-US" b="0" i="0" dirty="0">
                <a:solidFill>
                  <a:srgbClr val="161616"/>
                </a:solidFill>
                <a:effectLst/>
                <a:latin typeface="Segoe UI" panose="020B0502040204020203" pitchFamily="34" charset="0"/>
              </a:rPr>
              <a:t> are dimension tables that track changes to dimension attributes over time, like changes to a customer's address or a product's price. They're significant in a data warehouse because they enable users to analyze and understand changes to data over time. Slowly changing dimensions ensure that data stays up-to-date and accurate, which is imperative to making good business decisions.</a:t>
            </a:r>
          </a:p>
          <a:p>
            <a:endParaRPr lang="en-US" dirty="0"/>
          </a:p>
        </p:txBody>
      </p:sp>
    </p:spTree>
    <p:extLst>
      <p:ext uri="{BB962C8B-B14F-4D97-AF65-F5344CB8AC3E}">
        <p14:creationId xmlns:p14="http://schemas.microsoft.com/office/powerpoint/2010/main" val="1619841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E4730-9719-0EB9-978A-54ECC6DAB9DB}"/>
              </a:ext>
            </a:extLst>
          </p:cNvPr>
          <p:cNvSpPr>
            <a:spLocks noGrp="1"/>
          </p:cNvSpPr>
          <p:nvPr>
            <p:ph type="title"/>
          </p:nvPr>
        </p:nvSpPr>
        <p:spPr/>
        <p:txBody>
          <a:bodyPr/>
          <a:lstStyle/>
          <a:p>
            <a:r>
              <a:rPr lang="en-US" dirty="0"/>
              <a:t>Data Warehouse Schema design</a:t>
            </a:r>
          </a:p>
        </p:txBody>
      </p:sp>
      <p:sp>
        <p:nvSpPr>
          <p:cNvPr id="3" name="Content Placeholder 2">
            <a:extLst>
              <a:ext uri="{FF2B5EF4-FFF2-40B4-BE49-F238E27FC236}">
                <a16:creationId xmlns:a16="http://schemas.microsoft.com/office/drawing/2014/main" id="{62D4895B-02D7-BBDB-58A4-FE1A26ECA0D6}"/>
              </a:ext>
            </a:extLst>
          </p:cNvPr>
          <p:cNvSpPr>
            <a:spLocks noGrp="1"/>
          </p:cNvSpPr>
          <p:nvPr>
            <p:ph idx="1"/>
          </p:nvPr>
        </p:nvSpPr>
        <p:spPr>
          <a:xfrm>
            <a:off x="203200" y="1557867"/>
            <a:ext cx="6883400" cy="4619096"/>
          </a:xfrm>
        </p:spPr>
        <p:txBody>
          <a:bodyPr>
            <a:normAutofit fontScale="85000" lnSpcReduction="20000"/>
          </a:bodyPr>
          <a:lstStyle/>
          <a:p>
            <a:pPr algn="l">
              <a:buNone/>
            </a:pPr>
            <a:r>
              <a:rPr lang="en-US" b="0" i="0" dirty="0">
                <a:solidFill>
                  <a:srgbClr val="161616"/>
                </a:solidFill>
                <a:effectLst/>
                <a:latin typeface="Segoe UI" panose="020B0502040204020203" pitchFamily="34" charset="0"/>
              </a:rPr>
              <a:t>In most transactional databases that are used in business applications, the data is </a:t>
            </a:r>
            <a:r>
              <a:rPr lang="en-US" b="0" i="1" dirty="0">
                <a:solidFill>
                  <a:srgbClr val="161616"/>
                </a:solidFill>
                <a:effectLst/>
                <a:latin typeface="Segoe UI" panose="020B0502040204020203" pitchFamily="34" charset="0"/>
              </a:rPr>
              <a:t>normalized</a:t>
            </a:r>
            <a:r>
              <a:rPr lang="en-US" b="0" i="0" dirty="0">
                <a:solidFill>
                  <a:srgbClr val="161616"/>
                </a:solidFill>
                <a:effectLst/>
                <a:latin typeface="Segoe UI" panose="020B0502040204020203" pitchFamily="34" charset="0"/>
              </a:rPr>
              <a:t> to reduce duplication. In a data warehouse however, the dimension data is generally </a:t>
            </a:r>
            <a:r>
              <a:rPr lang="en-US" b="0" i="1" dirty="0">
                <a:solidFill>
                  <a:srgbClr val="161616"/>
                </a:solidFill>
                <a:effectLst/>
                <a:latin typeface="Segoe UI" panose="020B0502040204020203" pitchFamily="34" charset="0"/>
              </a:rPr>
              <a:t>de-normalized</a:t>
            </a:r>
            <a:r>
              <a:rPr lang="en-US" b="0" i="0" dirty="0">
                <a:solidFill>
                  <a:srgbClr val="161616"/>
                </a:solidFill>
                <a:effectLst/>
                <a:latin typeface="Segoe UI" panose="020B0502040204020203" pitchFamily="34" charset="0"/>
              </a:rPr>
              <a:t> to reduce the number of joins required to query the data.</a:t>
            </a:r>
          </a:p>
          <a:p>
            <a:pPr algn="l"/>
            <a:r>
              <a:rPr lang="en-US" b="0" i="0" dirty="0">
                <a:solidFill>
                  <a:srgbClr val="161616"/>
                </a:solidFill>
                <a:effectLst/>
                <a:latin typeface="Segoe UI" panose="020B0502040204020203" pitchFamily="34" charset="0"/>
              </a:rPr>
              <a:t>Often, a data warehouse is organized as a </a:t>
            </a:r>
            <a:r>
              <a:rPr lang="en-US" b="0" i="1" dirty="0">
                <a:solidFill>
                  <a:srgbClr val="161616"/>
                </a:solidFill>
                <a:effectLst/>
                <a:latin typeface="Segoe UI" panose="020B0502040204020203" pitchFamily="34" charset="0"/>
              </a:rPr>
              <a:t>star schema</a:t>
            </a:r>
            <a:r>
              <a:rPr lang="en-US" b="0" i="0" dirty="0">
                <a:solidFill>
                  <a:srgbClr val="161616"/>
                </a:solidFill>
                <a:effectLst/>
                <a:latin typeface="Segoe UI" panose="020B0502040204020203" pitchFamily="34" charset="0"/>
              </a:rPr>
              <a:t>, in which a fact table is directly related to the dimension tables, as shown in this example:</a:t>
            </a:r>
          </a:p>
          <a:p>
            <a:r>
              <a:rPr lang="en-US" b="0" i="0" dirty="0">
                <a:solidFill>
                  <a:srgbClr val="161616"/>
                </a:solidFill>
                <a:effectLst/>
                <a:latin typeface="Segoe UI" panose="020B0502040204020203" pitchFamily="34" charset="0"/>
              </a:rPr>
              <a:t>You can use the attributes of something to group together numbers in the fact table at different levels. For example, you could find the total sales revenue for a whole region or just for one customer. The information for each level can be stored in the same dimension table.</a:t>
            </a:r>
            <a:endParaRPr lang="en-US" dirty="0"/>
          </a:p>
        </p:txBody>
      </p:sp>
      <p:pic>
        <p:nvPicPr>
          <p:cNvPr id="5" name="Picture 4">
            <a:extLst>
              <a:ext uri="{FF2B5EF4-FFF2-40B4-BE49-F238E27FC236}">
                <a16:creationId xmlns:a16="http://schemas.microsoft.com/office/drawing/2014/main" id="{68859095-FD40-C04B-923F-E5F874F01C11}"/>
              </a:ext>
            </a:extLst>
          </p:cNvPr>
          <p:cNvPicPr>
            <a:picLocks noChangeAspect="1"/>
          </p:cNvPicPr>
          <p:nvPr/>
        </p:nvPicPr>
        <p:blipFill>
          <a:blip r:embed="rId2"/>
          <a:stretch>
            <a:fillRect/>
          </a:stretch>
        </p:blipFill>
        <p:spPr>
          <a:xfrm>
            <a:off x="7086600" y="1931801"/>
            <a:ext cx="4389500" cy="3368332"/>
          </a:xfrm>
          <a:prstGeom prst="rect">
            <a:avLst/>
          </a:prstGeom>
        </p:spPr>
      </p:pic>
    </p:spTree>
    <p:extLst>
      <p:ext uri="{BB962C8B-B14F-4D97-AF65-F5344CB8AC3E}">
        <p14:creationId xmlns:p14="http://schemas.microsoft.com/office/powerpoint/2010/main" val="2814494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F03EA-E97E-AFEE-26B6-C390F2AE4B9D}"/>
              </a:ext>
            </a:extLst>
          </p:cNvPr>
          <p:cNvSpPr>
            <a:spLocks noGrp="1"/>
          </p:cNvSpPr>
          <p:nvPr>
            <p:ph type="title"/>
          </p:nvPr>
        </p:nvSpPr>
        <p:spPr>
          <a:xfrm>
            <a:off x="838200" y="365125"/>
            <a:ext cx="10515600" cy="498475"/>
          </a:xfrm>
        </p:spPr>
        <p:txBody>
          <a:bodyPr>
            <a:normAutofit fontScale="90000"/>
          </a:bodyPr>
          <a:lstStyle/>
          <a:p>
            <a:br>
              <a:rPr lang="en-US" dirty="0"/>
            </a:br>
            <a:br>
              <a:rPr lang="en-US" dirty="0"/>
            </a:br>
            <a:r>
              <a:rPr lang="en-US" dirty="0"/>
              <a:t>schema type</a:t>
            </a:r>
          </a:p>
        </p:txBody>
      </p:sp>
      <p:sp>
        <p:nvSpPr>
          <p:cNvPr id="3" name="Content Placeholder 2">
            <a:extLst>
              <a:ext uri="{FF2B5EF4-FFF2-40B4-BE49-F238E27FC236}">
                <a16:creationId xmlns:a16="http://schemas.microsoft.com/office/drawing/2014/main" id="{88DA14CC-6CFC-A072-3C86-92A697231749}"/>
              </a:ext>
            </a:extLst>
          </p:cNvPr>
          <p:cNvSpPr>
            <a:spLocks noGrp="1"/>
          </p:cNvSpPr>
          <p:nvPr>
            <p:ph idx="1"/>
          </p:nvPr>
        </p:nvSpPr>
        <p:spPr>
          <a:xfrm>
            <a:off x="321733" y="1786467"/>
            <a:ext cx="5774267" cy="4706408"/>
          </a:xfrm>
        </p:spPr>
        <p:txBody>
          <a:bodyPr>
            <a:normAutofit fontScale="70000" lnSpcReduction="20000"/>
          </a:bodyPr>
          <a:lstStyle/>
          <a:p>
            <a:r>
              <a:rPr lang="en-US" b="0" i="0" dirty="0">
                <a:solidFill>
                  <a:srgbClr val="161616"/>
                </a:solidFill>
                <a:effectLst/>
                <a:latin typeface="Segoe UI" panose="020B0502040204020203" pitchFamily="34" charset="0"/>
              </a:rPr>
              <a:t>If there are lots of levels or some information is shared by different things, it might make sense to use a </a:t>
            </a:r>
            <a:r>
              <a:rPr lang="en-US" b="0" i="1" dirty="0">
                <a:solidFill>
                  <a:srgbClr val="161616"/>
                </a:solidFill>
                <a:effectLst/>
                <a:latin typeface="Segoe UI" panose="020B0502040204020203" pitchFamily="34" charset="0"/>
              </a:rPr>
              <a:t>snowflake schema</a:t>
            </a:r>
            <a:r>
              <a:rPr lang="en-US" b="0" i="0" dirty="0">
                <a:solidFill>
                  <a:srgbClr val="161616"/>
                </a:solidFill>
                <a:effectLst/>
                <a:latin typeface="Segoe UI" panose="020B0502040204020203" pitchFamily="34" charset="0"/>
              </a:rPr>
              <a:t> instead. Here's an example:</a:t>
            </a:r>
          </a:p>
          <a:p>
            <a:pPr algn="l">
              <a:buNone/>
            </a:pPr>
            <a:r>
              <a:rPr lang="en-US" b="0" i="0" dirty="0">
                <a:solidFill>
                  <a:srgbClr val="161616"/>
                </a:solidFill>
                <a:effectLst/>
                <a:latin typeface="Segoe UI" panose="020B0502040204020203" pitchFamily="34" charset="0"/>
              </a:rPr>
              <a:t>In this case, the </a:t>
            </a:r>
            <a:r>
              <a:rPr lang="en-US" b="1" i="0" dirty="0" err="1">
                <a:solidFill>
                  <a:srgbClr val="161616"/>
                </a:solidFill>
                <a:effectLst/>
                <a:latin typeface="Segoe UI" panose="020B0502040204020203" pitchFamily="34" charset="0"/>
              </a:rPr>
              <a:t>DimProduct</a:t>
            </a:r>
            <a:r>
              <a:rPr lang="en-US" b="0" i="0" dirty="0">
                <a:solidFill>
                  <a:srgbClr val="161616"/>
                </a:solidFill>
                <a:effectLst/>
                <a:latin typeface="Segoe UI" panose="020B0502040204020203" pitchFamily="34" charset="0"/>
              </a:rPr>
              <a:t> table has been split up (normalized) to create separate dimension tables for product categories and suppliers.</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Each row in the </a:t>
            </a:r>
            <a:r>
              <a:rPr lang="en-US" b="1" i="0" dirty="0" err="1">
                <a:solidFill>
                  <a:srgbClr val="161616"/>
                </a:solidFill>
                <a:effectLst/>
                <a:latin typeface="Segoe UI" panose="020B0502040204020203" pitchFamily="34" charset="0"/>
              </a:rPr>
              <a:t>DimProduct</a:t>
            </a:r>
            <a:r>
              <a:rPr lang="en-US" b="0" i="0" dirty="0">
                <a:solidFill>
                  <a:srgbClr val="161616"/>
                </a:solidFill>
                <a:effectLst/>
                <a:latin typeface="Segoe UI" panose="020B0502040204020203" pitchFamily="34" charset="0"/>
              </a:rPr>
              <a:t> table contains key values for the corresponding rows in the </a:t>
            </a:r>
            <a:r>
              <a:rPr lang="en-US" b="1" i="0" dirty="0" err="1">
                <a:solidFill>
                  <a:srgbClr val="161616"/>
                </a:solidFill>
                <a:effectLst/>
                <a:latin typeface="Segoe UI" panose="020B0502040204020203" pitchFamily="34" charset="0"/>
              </a:rPr>
              <a:t>DimCategory</a:t>
            </a:r>
            <a:r>
              <a:rPr lang="en-US" b="0" i="0" dirty="0">
                <a:solidFill>
                  <a:srgbClr val="161616"/>
                </a:solidFill>
                <a:effectLst/>
                <a:latin typeface="Segoe UI" panose="020B0502040204020203" pitchFamily="34" charset="0"/>
              </a:rPr>
              <a:t> and </a:t>
            </a:r>
            <a:r>
              <a:rPr lang="en-US" b="1" i="0" dirty="0" err="1">
                <a:solidFill>
                  <a:srgbClr val="161616"/>
                </a:solidFill>
                <a:effectLst/>
                <a:latin typeface="Segoe UI" panose="020B0502040204020203" pitchFamily="34" charset="0"/>
              </a:rPr>
              <a:t>DimSupplier</a:t>
            </a:r>
            <a:r>
              <a:rPr lang="en-US" b="1" i="0" dirty="0">
                <a:solidFill>
                  <a:srgbClr val="161616"/>
                </a:solidFill>
                <a:effectLst/>
                <a:latin typeface="Segoe UI" panose="020B0502040204020203" pitchFamily="34" charset="0"/>
              </a:rPr>
              <a:t> tables</a:t>
            </a:r>
            <a:r>
              <a:rPr lang="en-US" b="0" i="0" dirty="0">
                <a:solidFill>
                  <a:srgbClr val="161616"/>
                </a:solidFill>
                <a:effectLst/>
                <a:latin typeface="Segoe UI" panose="020B0502040204020203" pitchFamily="34" charset="0"/>
              </a:rPr>
              <a:t>.</a:t>
            </a:r>
          </a:p>
          <a:p>
            <a:pPr algn="l">
              <a:buNone/>
            </a:pPr>
            <a:r>
              <a:rPr lang="en-US" b="0" i="0" dirty="0">
                <a:solidFill>
                  <a:srgbClr val="161616"/>
                </a:solidFill>
                <a:effectLst/>
                <a:latin typeface="Segoe UI" panose="020B0502040204020203" pitchFamily="34" charset="0"/>
              </a:rPr>
              <a:t>A </a:t>
            </a:r>
            <a:r>
              <a:rPr lang="en-US" b="1" i="0" dirty="0" err="1">
                <a:solidFill>
                  <a:srgbClr val="161616"/>
                </a:solidFill>
                <a:effectLst/>
                <a:latin typeface="Segoe UI" panose="020B0502040204020203" pitchFamily="34" charset="0"/>
              </a:rPr>
              <a:t>DimGeography</a:t>
            </a:r>
            <a:r>
              <a:rPr lang="en-US" b="0" i="0" dirty="0">
                <a:solidFill>
                  <a:srgbClr val="161616"/>
                </a:solidFill>
                <a:effectLst/>
                <a:latin typeface="Segoe UI" panose="020B0502040204020203" pitchFamily="34" charset="0"/>
              </a:rPr>
              <a:t> table has been added containing information on where customers and stores are located.</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Each row in the </a:t>
            </a:r>
            <a:r>
              <a:rPr lang="en-US" b="1" i="0" dirty="0" err="1">
                <a:solidFill>
                  <a:srgbClr val="161616"/>
                </a:solidFill>
                <a:effectLst/>
                <a:latin typeface="Segoe UI" panose="020B0502040204020203" pitchFamily="34" charset="0"/>
              </a:rPr>
              <a:t>DimCustomer</a:t>
            </a:r>
            <a:r>
              <a:rPr lang="en-US" b="0" i="0" dirty="0">
                <a:solidFill>
                  <a:srgbClr val="161616"/>
                </a:solidFill>
                <a:effectLst/>
                <a:latin typeface="Segoe UI" panose="020B0502040204020203" pitchFamily="34" charset="0"/>
              </a:rPr>
              <a:t> and </a:t>
            </a:r>
            <a:r>
              <a:rPr lang="en-US" b="1" i="0" dirty="0" err="1">
                <a:solidFill>
                  <a:srgbClr val="161616"/>
                </a:solidFill>
                <a:effectLst/>
                <a:latin typeface="Segoe UI" panose="020B0502040204020203" pitchFamily="34" charset="0"/>
              </a:rPr>
              <a:t>DimStore</a:t>
            </a:r>
            <a:r>
              <a:rPr lang="en-US" b="0" i="0" dirty="0">
                <a:solidFill>
                  <a:srgbClr val="161616"/>
                </a:solidFill>
                <a:effectLst/>
                <a:latin typeface="Segoe UI" panose="020B0502040204020203" pitchFamily="34" charset="0"/>
              </a:rPr>
              <a:t> tables contains a key value for the corresponding row in the </a:t>
            </a:r>
            <a:r>
              <a:rPr lang="en-US" b="1" i="0" dirty="0" err="1">
                <a:solidFill>
                  <a:srgbClr val="161616"/>
                </a:solidFill>
                <a:effectLst/>
                <a:latin typeface="Segoe UI" panose="020B0502040204020203" pitchFamily="34" charset="0"/>
              </a:rPr>
              <a:t>DimGeography</a:t>
            </a:r>
            <a:r>
              <a:rPr lang="en-US" b="0" i="0" dirty="0">
                <a:solidFill>
                  <a:srgbClr val="161616"/>
                </a:solidFill>
                <a:effectLst/>
                <a:latin typeface="Segoe UI" panose="020B0502040204020203" pitchFamily="34" charset="0"/>
              </a:rPr>
              <a:t> table.</a:t>
            </a:r>
          </a:p>
          <a:p>
            <a:endParaRPr lang="en-US" dirty="0"/>
          </a:p>
        </p:txBody>
      </p:sp>
      <p:pic>
        <p:nvPicPr>
          <p:cNvPr id="5" name="Picture 4">
            <a:extLst>
              <a:ext uri="{FF2B5EF4-FFF2-40B4-BE49-F238E27FC236}">
                <a16:creationId xmlns:a16="http://schemas.microsoft.com/office/drawing/2014/main" id="{AE94E387-EB4B-CF45-9CD4-9D92C04B53A5}"/>
              </a:ext>
            </a:extLst>
          </p:cNvPr>
          <p:cNvPicPr>
            <a:picLocks noChangeAspect="1"/>
          </p:cNvPicPr>
          <p:nvPr/>
        </p:nvPicPr>
        <p:blipFill>
          <a:blip r:embed="rId2"/>
          <a:stretch>
            <a:fillRect/>
          </a:stretch>
        </p:blipFill>
        <p:spPr>
          <a:xfrm>
            <a:off x="6428966" y="2088508"/>
            <a:ext cx="4549534" cy="3825572"/>
          </a:xfrm>
          <a:prstGeom prst="rect">
            <a:avLst/>
          </a:prstGeom>
        </p:spPr>
      </p:pic>
    </p:spTree>
    <p:extLst>
      <p:ext uri="{BB962C8B-B14F-4D97-AF65-F5344CB8AC3E}">
        <p14:creationId xmlns:p14="http://schemas.microsoft.com/office/powerpoint/2010/main" val="2304427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FC140-7067-0EB1-6414-2866CAFE6360}"/>
              </a:ext>
            </a:extLst>
          </p:cNvPr>
          <p:cNvSpPr>
            <a:spLocks noGrp="1"/>
          </p:cNvSpPr>
          <p:nvPr>
            <p:ph type="title"/>
          </p:nvPr>
        </p:nvSpPr>
        <p:spPr/>
        <p:txBody>
          <a:bodyPr/>
          <a:lstStyle/>
          <a:p>
            <a:r>
              <a:rPr lang="en-US" dirty="0"/>
              <a:t>Ingest data</a:t>
            </a:r>
          </a:p>
        </p:txBody>
      </p:sp>
      <p:sp>
        <p:nvSpPr>
          <p:cNvPr id="3" name="Content Placeholder 2">
            <a:extLst>
              <a:ext uri="{FF2B5EF4-FFF2-40B4-BE49-F238E27FC236}">
                <a16:creationId xmlns:a16="http://schemas.microsoft.com/office/drawing/2014/main" id="{E13984F8-B7AE-BCB9-0507-63333BB76D29}"/>
              </a:ext>
            </a:extLst>
          </p:cNvPr>
          <p:cNvSpPr>
            <a:spLocks noGrp="1"/>
          </p:cNvSpPr>
          <p:nvPr>
            <p:ph idx="1"/>
          </p:nvPr>
        </p:nvSpPr>
        <p:spPr/>
        <p:txBody>
          <a:bodyPr>
            <a:normAutofit/>
          </a:bodyPr>
          <a:lstStyle/>
          <a:p>
            <a:r>
              <a:rPr lang="en-US" b="0" i="0" dirty="0">
                <a:solidFill>
                  <a:srgbClr val="161616"/>
                </a:solidFill>
                <a:effectLst/>
                <a:latin typeface="Segoe UI" panose="020B0502040204020203" pitchFamily="34" charset="0"/>
              </a:rPr>
              <a:t>There are a few ways to ingest data into a Fabric data warehouse, including </a:t>
            </a:r>
            <a:r>
              <a:rPr lang="en-US" b="0" i="1" dirty="0">
                <a:solidFill>
                  <a:srgbClr val="161616"/>
                </a:solidFill>
                <a:effectLst/>
                <a:latin typeface="Segoe UI" panose="020B0502040204020203" pitchFamily="34" charset="0"/>
              </a:rPr>
              <a:t>Pipelines</a:t>
            </a:r>
            <a:r>
              <a:rPr lang="en-US" b="0" i="0" dirty="0">
                <a:solidFill>
                  <a:srgbClr val="161616"/>
                </a:solidFill>
                <a:effectLst/>
                <a:latin typeface="Segoe UI" panose="020B0502040204020203" pitchFamily="34" charset="0"/>
              </a:rPr>
              <a:t>, </a:t>
            </a:r>
            <a:r>
              <a:rPr lang="en-US" b="0" i="1" dirty="0">
                <a:solidFill>
                  <a:srgbClr val="161616"/>
                </a:solidFill>
                <a:effectLst/>
                <a:latin typeface="Segoe UI" panose="020B0502040204020203" pitchFamily="34" charset="0"/>
              </a:rPr>
              <a:t>Dataflows</a:t>
            </a:r>
            <a:r>
              <a:rPr lang="en-US" b="0" i="0" dirty="0">
                <a:solidFill>
                  <a:srgbClr val="161616"/>
                </a:solidFill>
                <a:effectLst/>
                <a:latin typeface="Segoe UI" panose="020B0502040204020203" pitchFamily="34" charset="0"/>
              </a:rPr>
              <a:t>, </a:t>
            </a:r>
            <a:r>
              <a:rPr lang="en-US" b="0" i="1" dirty="0">
                <a:solidFill>
                  <a:srgbClr val="161616"/>
                </a:solidFill>
                <a:effectLst/>
                <a:latin typeface="Segoe UI" panose="020B0502040204020203" pitchFamily="34" charset="0"/>
              </a:rPr>
              <a:t>cross-database querying</a:t>
            </a:r>
            <a:r>
              <a:rPr lang="en-US" b="0" i="0" dirty="0">
                <a:solidFill>
                  <a:srgbClr val="161616"/>
                </a:solidFill>
                <a:effectLst/>
                <a:latin typeface="Segoe UI" panose="020B0502040204020203" pitchFamily="34" charset="0"/>
              </a:rPr>
              <a:t>, and the </a:t>
            </a:r>
            <a:r>
              <a:rPr lang="en-US" b="0" i="1" dirty="0">
                <a:solidFill>
                  <a:srgbClr val="161616"/>
                </a:solidFill>
                <a:effectLst/>
                <a:latin typeface="Segoe UI" panose="020B0502040204020203" pitchFamily="34" charset="0"/>
              </a:rPr>
              <a:t>COPY INTO</a:t>
            </a:r>
            <a:r>
              <a:rPr lang="en-US" b="0" i="0" dirty="0">
                <a:solidFill>
                  <a:srgbClr val="161616"/>
                </a:solidFill>
                <a:effectLst/>
                <a:latin typeface="Segoe UI" panose="020B0502040204020203" pitchFamily="34" charset="0"/>
              </a:rPr>
              <a:t> command. After ingestion, the data becomes available for analysis by multiple business groups, who can use features such as cross-database querying and sharing to access it.</a:t>
            </a:r>
            <a:endParaRPr lang="en-US" dirty="0"/>
          </a:p>
        </p:txBody>
      </p:sp>
    </p:spTree>
    <p:extLst>
      <p:ext uri="{BB962C8B-B14F-4D97-AF65-F5344CB8AC3E}">
        <p14:creationId xmlns:p14="http://schemas.microsoft.com/office/powerpoint/2010/main" val="2259728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1C6FA-C737-7DB8-CF70-3A4E221FAB91}"/>
              </a:ext>
            </a:extLst>
          </p:cNvPr>
          <p:cNvSpPr>
            <a:spLocks noGrp="1"/>
          </p:cNvSpPr>
          <p:nvPr>
            <p:ph type="title"/>
          </p:nvPr>
        </p:nvSpPr>
        <p:spPr/>
        <p:txBody>
          <a:bodyPr/>
          <a:lstStyle/>
          <a:p>
            <a:r>
              <a:rPr lang="en-US" dirty="0"/>
              <a:t>Clone the table</a:t>
            </a:r>
          </a:p>
        </p:txBody>
      </p:sp>
      <p:sp>
        <p:nvSpPr>
          <p:cNvPr id="3" name="Content Placeholder 2">
            <a:extLst>
              <a:ext uri="{FF2B5EF4-FFF2-40B4-BE49-F238E27FC236}">
                <a16:creationId xmlns:a16="http://schemas.microsoft.com/office/drawing/2014/main" id="{B9968B1B-C3D9-58EB-D1C7-049C5F0DB934}"/>
              </a:ext>
            </a:extLst>
          </p:cNvPr>
          <p:cNvSpPr>
            <a:spLocks noGrp="1"/>
          </p:cNvSpPr>
          <p:nvPr>
            <p:ph idx="1"/>
          </p:nvPr>
        </p:nvSpPr>
        <p:spPr/>
        <p:txBody>
          <a:bodyPr>
            <a:normAutofit fontScale="85000" lnSpcReduction="10000"/>
          </a:bodyPr>
          <a:lstStyle/>
          <a:p>
            <a:r>
              <a:rPr lang="en-US" b="0" i="0" dirty="0">
                <a:solidFill>
                  <a:srgbClr val="161616"/>
                </a:solidFill>
                <a:effectLst/>
                <a:latin typeface="Segoe UI" panose="020B0502040204020203" pitchFamily="34" charset="0"/>
              </a:rPr>
              <a:t>You can create zero-copy table clones with minimal storage costs in a data warehouse. These clones are essentially replicas of tables created by copying the metadata while still referencing the same data files in </a:t>
            </a:r>
            <a:r>
              <a:rPr lang="en-US" b="0" i="0" dirty="0" err="1">
                <a:solidFill>
                  <a:srgbClr val="161616"/>
                </a:solidFill>
                <a:effectLst/>
                <a:latin typeface="Segoe UI" panose="020B0502040204020203" pitchFamily="34" charset="0"/>
              </a:rPr>
              <a:t>OneLake</a:t>
            </a:r>
            <a:r>
              <a:rPr lang="en-US" b="0" i="0" dirty="0">
                <a:solidFill>
                  <a:srgbClr val="161616"/>
                </a:solidFill>
                <a:effectLst/>
                <a:latin typeface="Segoe UI" panose="020B0502040204020203" pitchFamily="34" charset="0"/>
              </a:rPr>
              <a:t>. This means that the underlying data stored as parquet files is not duplicated, which helps in saving storage costs.</a:t>
            </a:r>
          </a:p>
          <a:p>
            <a:r>
              <a:rPr lang="en-US" b="1" i="0" dirty="0">
                <a:solidFill>
                  <a:srgbClr val="161616"/>
                </a:solidFill>
                <a:effectLst/>
                <a:latin typeface="Segoe UI" panose="020B0502040204020203" pitchFamily="34" charset="0"/>
              </a:rPr>
              <a:t>Development and testing:</a:t>
            </a:r>
            <a:r>
              <a:rPr lang="en-US" b="0" i="0" dirty="0">
                <a:solidFill>
                  <a:srgbClr val="161616"/>
                </a:solidFill>
                <a:effectLst/>
                <a:latin typeface="Segoe UI" panose="020B0502040204020203" pitchFamily="34" charset="0"/>
              </a:rPr>
              <a:t> Clones allow developers and testers to create copies of tables in lower environments, facilitating development, debugging, testing, and validation processes.</a:t>
            </a:r>
          </a:p>
          <a:p>
            <a:r>
              <a:rPr lang="en-US" b="1" i="0" dirty="0">
                <a:solidFill>
                  <a:srgbClr val="161616"/>
                </a:solidFill>
                <a:effectLst/>
                <a:latin typeface="Segoe UI" panose="020B0502040204020203" pitchFamily="34" charset="0"/>
              </a:rPr>
              <a:t>Data recovery:</a:t>
            </a:r>
            <a:r>
              <a:rPr lang="en-US" b="0" i="0" dirty="0">
                <a:solidFill>
                  <a:srgbClr val="161616"/>
                </a:solidFill>
                <a:effectLst/>
                <a:latin typeface="Segoe UI" panose="020B0502040204020203" pitchFamily="34" charset="0"/>
              </a:rPr>
              <a:t> In the event of a failed release or data corruption, table clones can retain the previous state of data, enabling data recovery.</a:t>
            </a:r>
          </a:p>
          <a:p>
            <a:r>
              <a:rPr lang="en-US" b="1" i="0" dirty="0">
                <a:solidFill>
                  <a:srgbClr val="161616"/>
                </a:solidFill>
                <a:effectLst/>
                <a:latin typeface="Segoe UI" panose="020B0502040204020203" pitchFamily="34" charset="0"/>
              </a:rPr>
              <a:t>Historical reporting:</a:t>
            </a:r>
            <a:r>
              <a:rPr lang="en-US" b="0" i="0" dirty="0">
                <a:solidFill>
                  <a:srgbClr val="161616"/>
                </a:solidFill>
                <a:effectLst/>
                <a:latin typeface="Segoe UI" panose="020B0502040204020203" pitchFamily="34" charset="0"/>
              </a:rPr>
              <a:t> They help create historical reports that reflect the state of data at specific points in time and preserve data at specific business milestones.</a:t>
            </a:r>
          </a:p>
          <a:p>
            <a:endParaRPr lang="en-US" dirty="0"/>
          </a:p>
          <a:p>
            <a:endParaRPr lang="en-US" dirty="0"/>
          </a:p>
        </p:txBody>
      </p:sp>
    </p:spTree>
    <p:extLst>
      <p:ext uri="{BB962C8B-B14F-4D97-AF65-F5344CB8AC3E}">
        <p14:creationId xmlns:p14="http://schemas.microsoft.com/office/powerpoint/2010/main" val="3727929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84113-BD76-F8B6-D207-FF51F6554C72}"/>
              </a:ext>
            </a:extLst>
          </p:cNvPr>
          <p:cNvSpPr>
            <a:spLocks noGrp="1"/>
          </p:cNvSpPr>
          <p:nvPr>
            <p:ph type="title"/>
          </p:nvPr>
        </p:nvSpPr>
        <p:spPr/>
        <p:txBody>
          <a:bodyPr/>
          <a:lstStyle/>
          <a:p>
            <a:r>
              <a:rPr lang="en-US" dirty="0"/>
              <a:t>Staging table</a:t>
            </a:r>
          </a:p>
        </p:txBody>
      </p:sp>
      <p:sp>
        <p:nvSpPr>
          <p:cNvPr id="3" name="Content Placeholder 2">
            <a:extLst>
              <a:ext uri="{FF2B5EF4-FFF2-40B4-BE49-F238E27FC236}">
                <a16:creationId xmlns:a16="http://schemas.microsoft.com/office/drawing/2014/main" id="{9EE08D2C-EC06-1D34-DEF1-F97E7349369D}"/>
              </a:ext>
            </a:extLst>
          </p:cNvPr>
          <p:cNvSpPr>
            <a:spLocks noGrp="1"/>
          </p:cNvSpPr>
          <p:nvPr>
            <p:ph idx="1"/>
          </p:nvPr>
        </p:nvSpPr>
        <p:spPr/>
        <p:txBody>
          <a:bodyPr>
            <a:normAutofit fontScale="92500"/>
          </a:bodyPr>
          <a:lstStyle/>
          <a:p>
            <a:pPr algn="l">
              <a:buNone/>
            </a:pPr>
            <a:r>
              <a:rPr lang="en-US" b="0" i="0" dirty="0">
                <a:solidFill>
                  <a:srgbClr val="161616"/>
                </a:solidFill>
                <a:effectLst/>
                <a:latin typeface="Segoe UI" panose="020B0502040204020203" pitchFamily="34" charset="0"/>
              </a:rPr>
              <a:t>After creating tables in a data warehouse, it's important to consider the process of loading data into those tables. A common approach is to use </a:t>
            </a:r>
            <a:r>
              <a:rPr lang="en-US" b="0" i="1" dirty="0">
                <a:solidFill>
                  <a:srgbClr val="161616"/>
                </a:solidFill>
                <a:effectLst/>
                <a:latin typeface="Segoe UI" panose="020B0502040204020203" pitchFamily="34" charset="0"/>
              </a:rPr>
              <a:t>staging tables</a:t>
            </a:r>
            <a:r>
              <a:rPr lang="en-US" b="0" i="0" dirty="0">
                <a:solidFill>
                  <a:srgbClr val="161616"/>
                </a:solidFill>
                <a:effectLst/>
                <a:latin typeface="Segoe UI" panose="020B0502040204020203" pitchFamily="34" charset="0"/>
              </a:rPr>
              <a:t>. In Fabric, you can use T-SQL commands to load data from files into staging tables in the data warehouse.</a:t>
            </a:r>
          </a:p>
          <a:p>
            <a:pPr algn="l">
              <a:buNone/>
            </a:pPr>
            <a:r>
              <a:rPr lang="en-US" b="0" i="0" dirty="0">
                <a:solidFill>
                  <a:srgbClr val="161616"/>
                </a:solidFill>
                <a:effectLst/>
                <a:latin typeface="Segoe UI" panose="020B0502040204020203" pitchFamily="34" charset="0"/>
              </a:rPr>
              <a:t>Staging tables are temporary tables that can be used to perform data cleansing, data transformations, and data validation. You can also use staging tables to load data from multiple sources into a single destination table.</a:t>
            </a:r>
          </a:p>
          <a:p>
            <a:pPr algn="l"/>
            <a:r>
              <a:rPr lang="en-US" b="0" i="0" dirty="0">
                <a:solidFill>
                  <a:srgbClr val="161616"/>
                </a:solidFill>
                <a:effectLst/>
                <a:latin typeface="Segoe UI" panose="020B0502040204020203" pitchFamily="34" charset="0"/>
              </a:rPr>
              <a:t>Usually, data loading is performed as a periodic batch process in which inserts and updates to the data warehouse are coordinated to occur at a regular interval (for example, daily, weekly, or monthly).</a:t>
            </a:r>
          </a:p>
          <a:p>
            <a:endParaRPr lang="en-US" dirty="0"/>
          </a:p>
        </p:txBody>
      </p:sp>
    </p:spTree>
    <p:extLst>
      <p:ext uri="{BB962C8B-B14F-4D97-AF65-F5344CB8AC3E}">
        <p14:creationId xmlns:p14="http://schemas.microsoft.com/office/powerpoint/2010/main" val="3746518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A08B3-4397-9C75-BBB1-92EB149688D2}"/>
              </a:ext>
            </a:extLst>
          </p:cNvPr>
          <p:cNvSpPr>
            <a:spLocks noGrp="1"/>
          </p:cNvSpPr>
          <p:nvPr>
            <p:ph type="title"/>
          </p:nvPr>
        </p:nvSpPr>
        <p:spPr/>
        <p:txBody>
          <a:bodyPr/>
          <a:lstStyle/>
          <a:p>
            <a:r>
              <a:rPr lang="en-US" dirty="0"/>
              <a:t>Load process</a:t>
            </a:r>
          </a:p>
        </p:txBody>
      </p:sp>
      <p:sp>
        <p:nvSpPr>
          <p:cNvPr id="3" name="Content Placeholder 2">
            <a:extLst>
              <a:ext uri="{FF2B5EF4-FFF2-40B4-BE49-F238E27FC236}">
                <a16:creationId xmlns:a16="http://schemas.microsoft.com/office/drawing/2014/main" id="{65FC6D7D-8500-3933-793A-A5C1E83F0A42}"/>
              </a:ext>
            </a:extLst>
          </p:cNvPr>
          <p:cNvSpPr>
            <a:spLocks noGrp="1"/>
          </p:cNvSpPr>
          <p:nvPr>
            <p:ph idx="1"/>
          </p:nvPr>
        </p:nvSpPr>
        <p:spPr/>
        <p:txBody>
          <a:bodyPr>
            <a:normAutofit fontScale="70000" lnSpcReduction="20000"/>
          </a:bodyPr>
          <a:lstStyle/>
          <a:p>
            <a:pPr marL="0" indent="0">
              <a:buNone/>
            </a:pPr>
            <a:r>
              <a:rPr lang="en-US" b="0" i="0" dirty="0">
                <a:solidFill>
                  <a:srgbClr val="161616"/>
                </a:solidFill>
                <a:effectLst/>
                <a:latin typeface="Segoe UI" panose="020B0502040204020203" pitchFamily="34" charset="0"/>
              </a:rPr>
              <a:t>Generally, you should implement a data warehouse load process that performs tasks in the following order:</a:t>
            </a:r>
          </a:p>
          <a:p>
            <a:pPr marL="0" indent="0">
              <a:buNone/>
            </a:pPr>
            <a:endParaRPr lang="en-US" b="0" i="0" dirty="0">
              <a:solidFill>
                <a:srgbClr val="161616"/>
              </a:solidFill>
              <a:effectLst/>
              <a:latin typeface="Segoe UI" panose="020B0502040204020203" pitchFamily="34" charset="0"/>
            </a:endParaRPr>
          </a:p>
          <a:p>
            <a:pPr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Ingest the new data to be loaded into a data lake, applying pre-load cleansing or transformations as required.</a:t>
            </a:r>
          </a:p>
          <a:p>
            <a:pPr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Load the data from files into staging tables in the relational data warehouse.</a:t>
            </a:r>
          </a:p>
          <a:p>
            <a:pPr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Load the dimension tables from the dimension data in the staging tables, updating existing rows or inserting new rows and generating surrogate key values as necessary.</a:t>
            </a:r>
          </a:p>
          <a:p>
            <a:pPr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Load the fact tables from the fact data in the staging tables, looking up the appropriate surrogate keys for related dimensions.</a:t>
            </a:r>
          </a:p>
          <a:p>
            <a:pPr algn="l">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Perform post-load optimization by updating indexes and table distribution statistics.</a:t>
            </a:r>
          </a:p>
          <a:p>
            <a:endParaRPr lang="en-US" dirty="0"/>
          </a:p>
        </p:txBody>
      </p:sp>
    </p:spTree>
    <p:extLst>
      <p:ext uri="{BB962C8B-B14F-4D97-AF65-F5344CB8AC3E}">
        <p14:creationId xmlns:p14="http://schemas.microsoft.com/office/powerpoint/2010/main" val="1519501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A0A5EE-7879-ED4D-B874-4C460D490CF0}"/>
              </a:ext>
            </a:extLst>
          </p:cNvPr>
          <p:cNvPicPr>
            <a:picLocks noChangeAspect="1"/>
          </p:cNvPicPr>
          <p:nvPr/>
        </p:nvPicPr>
        <p:blipFill>
          <a:blip r:embed="rId2"/>
          <a:stretch>
            <a:fillRect/>
          </a:stretch>
        </p:blipFill>
        <p:spPr>
          <a:xfrm>
            <a:off x="320842" y="0"/>
            <a:ext cx="11550316" cy="6858000"/>
          </a:xfrm>
          <a:prstGeom prst="rect">
            <a:avLst/>
          </a:prstGeom>
        </p:spPr>
      </p:pic>
    </p:spTree>
    <p:extLst>
      <p:ext uri="{BB962C8B-B14F-4D97-AF65-F5344CB8AC3E}">
        <p14:creationId xmlns:p14="http://schemas.microsoft.com/office/powerpoint/2010/main" val="3775963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C077DC-F980-02D4-CFC4-E87EC780660D}"/>
              </a:ext>
            </a:extLst>
          </p:cNvPr>
          <p:cNvPicPr>
            <a:picLocks noChangeAspect="1"/>
          </p:cNvPicPr>
          <p:nvPr/>
        </p:nvPicPr>
        <p:blipFill>
          <a:blip r:embed="rId2"/>
          <a:stretch>
            <a:fillRect/>
          </a:stretch>
        </p:blipFill>
        <p:spPr>
          <a:xfrm>
            <a:off x="320842" y="0"/>
            <a:ext cx="11550316"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456BE2A8-229A-9F43-BBE7-C537E4636819}"/>
                  </a:ext>
                </a:extLst>
              </p14:cNvPr>
              <p14:cNvContentPartPr/>
              <p14:nvPr/>
            </p14:nvContentPartPr>
            <p14:xfrm>
              <a:off x="1599867" y="1336400"/>
              <a:ext cx="521280" cy="27360"/>
            </p14:xfrm>
          </p:contentPart>
        </mc:Choice>
        <mc:Fallback xmlns="">
          <p:pic>
            <p:nvPicPr>
              <p:cNvPr id="4" name="Ink 3">
                <a:extLst>
                  <a:ext uri="{FF2B5EF4-FFF2-40B4-BE49-F238E27FC236}">
                    <a16:creationId xmlns:a16="http://schemas.microsoft.com/office/drawing/2014/main" id="{456BE2A8-229A-9F43-BBE7-C537E4636819}"/>
                  </a:ext>
                </a:extLst>
              </p:cNvPr>
              <p:cNvPicPr/>
              <p:nvPr/>
            </p:nvPicPr>
            <p:blipFill>
              <a:blip r:embed="rId4"/>
              <a:stretch>
                <a:fillRect/>
              </a:stretch>
            </p:blipFill>
            <p:spPr>
              <a:xfrm>
                <a:off x="1564227" y="1264760"/>
                <a:ext cx="59292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7A9DF3BE-A8B8-174B-CEBB-6E08935A52DE}"/>
                  </a:ext>
                </a:extLst>
              </p14:cNvPr>
              <p14:cNvContentPartPr/>
              <p14:nvPr/>
            </p14:nvContentPartPr>
            <p14:xfrm>
              <a:off x="2641707" y="1329200"/>
              <a:ext cx="757080" cy="9360"/>
            </p14:xfrm>
          </p:contentPart>
        </mc:Choice>
        <mc:Fallback xmlns="">
          <p:pic>
            <p:nvPicPr>
              <p:cNvPr id="5" name="Ink 4">
                <a:extLst>
                  <a:ext uri="{FF2B5EF4-FFF2-40B4-BE49-F238E27FC236}">
                    <a16:creationId xmlns:a16="http://schemas.microsoft.com/office/drawing/2014/main" id="{7A9DF3BE-A8B8-174B-CEBB-6E08935A52DE}"/>
                  </a:ext>
                </a:extLst>
              </p:cNvPr>
              <p:cNvPicPr/>
              <p:nvPr/>
            </p:nvPicPr>
            <p:blipFill>
              <a:blip r:embed="rId6"/>
              <a:stretch>
                <a:fillRect/>
              </a:stretch>
            </p:blipFill>
            <p:spPr>
              <a:xfrm>
                <a:off x="2605707" y="1257200"/>
                <a:ext cx="828720" cy="153000"/>
              </a:xfrm>
              <a:prstGeom prst="rect">
                <a:avLst/>
              </a:prstGeom>
            </p:spPr>
          </p:pic>
        </mc:Fallback>
      </mc:AlternateContent>
    </p:spTree>
    <p:extLst>
      <p:ext uri="{BB962C8B-B14F-4D97-AF65-F5344CB8AC3E}">
        <p14:creationId xmlns:p14="http://schemas.microsoft.com/office/powerpoint/2010/main" val="641399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D9D86-B8B8-09F3-2DC8-C67DFD633F6D}"/>
              </a:ext>
            </a:extLst>
          </p:cNvPr>
          <p:cNvSpPr>
            <a:spLocks noGrp="1"/>
          </p:cNvSpPr>
          <p:nvPr>
            <p:ph type="title"/>
          </p:nvPr>
        </p:nvSpPr>
        <p:spPr/>
        <p:txBody>
          <a:bodyPr/>
          <a:lstStyle/>
          <a:p>
            <a:r>
              <a:rPr lang="en-US" dirty="0"/>
              <a:t>Loading the data</a:t>
            </a:r>
          </a:p>
        </p:txBody>
      </p:sp>
      <p:sp>
        <p:nvSpPr>
          <p:cNvPr id="3" name="Text Placeholder 2">
            <a:extLst>
              <a:ext uri="{FF2B5EF4-FFF2-40B4-BE49-F238E27FC236}">
                <a16:creationId xmlns:a16="http://schemas.microsoft.com/office/drawing/2014/main" id="{F3D84C57-0B71-3E6F-7823-399AA8FC0F2C}"/>
              </a:ext>
            </a:extLst>
          </p:cNvPr>
          <p:cNvSpPr>
            <a:spLocks noGrp="1"/>
          </p:cNvSpPr>
          <p:nvPr>
            <p:ph type="body" idx="1"/>
          </p:nvPr>
        </p:nvSpPr>
        <p:spPr/>
        <p:txBody>
          <a:bodyPr/>
          <a:lstStyle/>
          <a:p>
            <a:r>
              <a:rPr lang="en-US" dirty="0"/>
              <a:t>Loading the data in the </a:t>
            </a:r>
            <a:r>
              <a:rPr lang="en-US" dirty="0" err="1"/>
              <a:t>lakehouse</a:t>
            </a:r>
            <a:endParaRPr lang="en-US" dirty="0"/>
          </a:p>
        </p:txBody>
      </p:sp>
    </p:spTree>
    <p:extLst>
      <p:ext uri="{BB962C8B-B14F-4D97-AF65-F5344CB8AC3E}">
        <p14:creationId xmlns:p14="http://schemas.microsoft.com/office/powerpoint/2010/main" val="595746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1ADEAF5-0C76-930E-784D-C96725D2AD16}"/>
              </a:ext>
            </a:extLst>
          </p:cNvPr>
          <p:cNvSpPr>
            <a:spLocks noGrp="1"/>
          </p:cNvSpPr>
          <p:nvPr>
            <p:ph type="title"/>
          </p:nvPr>
        </p:nvSpPr>
        <p:spPr/>
        <p:txBody>
          <a:bodyPr/>
          <a:lstStyle/>
          <a:p>
            <a:r>
              <a:rPr lang="en-US" dirty="0"/>
              <a:t>Steps to upload</a:t>
            </a:r>
          </a:p>
        </p:txBody>
      </p:sp>
      <p:sp>
        <p:nvSpPr>
          <p:cNvPr id="5" name="Content Placeholder 4">
            <a:extLst>
              <a:ext uri="{FF2B5EF4-FFF2-40B4-BE49-F238E27FC236}">
                <a16:creationId xmlns:a16="http://schemas.microsoft.com/office/drawing/2014/main" id="{97FE86F8-644B-9935-3029-79F5E54A3696}"/>
              </a:ext>
            </a:extLst>
          </p:cNvPr>
          <p:cNvSpPr>
            <a:spLocks noGrp="1"/>
          </p:cNvSpPr>
          <p:nvPr>
            <p:ph idx="1"/>
          </p:nvPr>
        </p:nvSpPr>
        <p:spPr/>
        <p:txBody>
          <a:bodyPr/>
          <a:lstStyle/>
          <a:p>
            <a:r>
              <a:rPr lang="en-US" dirty="0"/>
              <a:t>Get data</a:t>
            </a:r>
          </a:p>
          <a:p>
            <a:r>
              <a:rPr lang="en-US" dirty="0"/>
              <a:t>New Dataflow Gen2</a:t>
            </a:r>
          </a:p>
          <a:p>
            <a:r>
              <a:rPr lang="en-US" dirty="0"/>
              <a:t>Upload the data from the below </a:t>
            </a:r>
            <a:r>
              <a:rPr lang="en-US" dirty="0">
                <a:hlinkClick r:id="rId2"/>
              </a:rPr>
              <a:t>link </a:t>
            </a:r>
            <a:endParaRPr lang="en-US" dirty="0"/>
          </a:p>
          <a:p>
            <a:endParaRPr lang="en-US" dirty="0"/>
          </a:p>
        </p:txBody>
      </p:sp>
    </p:spTree>
    <p:extLst>
      <p:ext uri="{BB962C8B-B14F-4D97-AF65-F5344CB8AC3E}">
        <p14:creationId xmlns:p14="http://schemas.microsoft.com/office/powerpoint/2010/main" val="3138910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BFEF3C-8BBE-865F-3938-700DA448EB90}"/>
              </a:ext>
            </a:extLst>
          </p:cNvPr>
          <p:cNvPicPr>
            <a:picLocks noChangeAspect="1"/>
          </p:cNvPicPr>
          <p:nvPr/>
        </p:nvPicPr>
        <p:blipFill>
          <a:blip r:embed="rId2"/>
          <a:stretch>
            <a:fillRect/>
          </a:stretch>
        </p:blipFill>
        <p:spPr>
          <a:xfrm>
            <a:off x="320842" y="0"/>
            <a:ext cx="11550316"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273EFAFD-E6B5-4A43-D84E-40568A9833B1}"/>
                  </a:ext>
                </a:extLst>
              </p14:cNvPr>
              <p14:cNvContentPartPr/>
              <p14:nvPr/>
            </p14:nvContentPartPr>
            <p14:xfrm>
              <a:off x="1608507" y="2082320"/>
              <a:ext cx="1383840" cy="42480"/>
            </p14:xfrm>
          </p:contentPart>
        </mc:Choice>
        <mc:Fallback xmlns="">
          <p:pic>
            <p:nvPicPr>
              <p:cNvPr id="3" name="Ink 2">
                <a:extLst>
                  <a:ext uri="{FF2B5EF4-FFF2-40B4-BE49-F238E27FC236}">
                    <a16:creationId xmlns:a16="http://schemas.microsoft.com/office/drawing/2014/main" id="{273EFAFD-E6B5-4A43-D84E-40568A9833B1}"/>
                  </a:ext>
                </a:extLst>
              </p:cNvPr>
              <p:cNvPicPr/>
              <p:nvPr/>
            </p:nvPicPr>
            <p:blipFill>
              <a:blip r:embed="rId4"/>
              <a:stretch>
                <a:fillRect/>
              </a:stretch>
            </p:blipFill>
            <p:spPr>
              <a:xfrm>
                <a:off x="1572507" y="2010680"/>
                <a:ext cx="1455480" cy="186120"/>
              </a:xfrm>
              <a:prstGeom prst="rect">
                <a:avLst/>
              </a:prstGeom>
            </p:spPr>
          </p:pic>
        </mc:Fallback>
      </mc:AlternateContent>
    </p:spTree>
    <p:extLst>
      <p:ext uri="{BB962C8B-B14F-4D97-AF65-F5344CB8AC3E}">
        <p14:creationId xmlns:p14="http://schemas.microsoft.com/office/powerpoint/2010/main" val="301653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AD617A-4276-CAB1-2822-F267798F2C32}"/>
              </a:ext>
            </a:extLst>
          </p:cNvPr>
          <p:cNvPicPr>
            <a:picLocks noChangeAspect="1"/>
          </p:cNvPicPr>
          <p:nvPr/>
        </p:nvPicPr>
        <p:blipFill>
          <a:blip r:embed="rId2"/>
          <a:stretch>
            <a:fillRect/>
          </a:stretch>
        </p:blipFill>
        <p:spPr>
          <a:xfrm>
            <a:off x="320842" y="0"/>
            <a:ext cx="11550316" cy="6858000"/>
          </a:xfrm>
          <a:prstGeom prst="rect">
            <a:avLst/>
          </a:prstGeom>
        </p:spPr>
      </p:pic>
    </p:spTree>
    <p:extLst>
      <p:ext uri="{BB962C8B-B14F-4D97-AF65-F5344CB8AC3E}">
        <p14:creationId xmlns:p14="http://schemas.microsoft.com/office/powerpoint/2010/main" val="3138216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C11544-AB65-F82E-6C84-378BB304A122}"/>
              </a:ext>
            </a:extLst>
          </p:cNvPr>
          <p:cNvPicPr>
            <a:picLocks noChangeAspect="1"/>
          </p:cNvPicPr>
          <p:nvPr/>
        </p:nvPicPr>
        <p:blipFill>
          <a:blip r:embed="rId2"/>
          <a:stretch>
            <a:fillRect/>
          </a:stretch>
        </p:blipFill>
        <p:spPr>
          <a:xfrm>
            <a:off x="320842" y="0"/>
            <a:ext cx="11550316" cy="6858000"/>
          </a:xfrm>
          <a:prstGeom prst="rect">
            <a:avLst/>
          </a:prstGeom>
        </p:spPr>
      </p:pic>
      <p:pic>
        <p:nvPicPr>
          <p:cNvPr id="5" name="Picture 4">
            <a:extLst>
              <a:ext uri="{FF2B5EF4-FFF2-40B4-BE49-F238E27FC236}">
                <a16:creationId xmlns:a16="http://schemas.microsoft.com/office/drawing/2014/main" id="{613368B9-0996-8DEE-0C11-CEB1E21526AA}"/>
              </a:ext>
            </a:extLst>
          </p:cNvPr>
          <p:cNvPicPr>
            <a:picLocks noChangeAspect="1"/>
          </p:cNvPicPr>
          <p:nvPr/>
        </p:nvPicPr>
        <p:blipFill>
          <a:blip r:embed="rId3"/>
          <a:stretch>
            <a:fillRect/>
          </a:stretch>
        </p:blipFill>
        <p:spPr>
          <a:xfrm>
            <a:off x="320842" y="0"/>
            <a:ext cx="11550316" cy="6858000"/>
          </a:xfrm>
          <a:prstGeom prst="rect">
            <a:avLst/>
          </a:prstGeom>
        </p:spPr>
      </p:pic>
    </p:spTree>
    <p:extLst>
      <p:ext uri="{BB962C8B-B14F-4D97-AF65-F5344CB8AC3E}">
        <p14:creationId xmlns:p14="http://schemas.microsoft.com/office/powerpoint/2010/main" val="2945779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30A58-A86D-BBFD-0CCC-B8E7800E5C68}"/>
              </a:ext>
            </a:extLst>
          </p:cNvPr>
          <p:cNvSpPr>
            <a:spLocks noGrp="1"/>
          </p:cNvSpPr>
          <p:nvPr>
            <p:ph type="title"/>
          </p:nvPr>
        </p:nvSpPr>
        <p:spPr/>
        <p:txBody>
          <a:bodyPr/>
          <a:lstStyle/>
          <a:p>
            <a:r>
              <a:rPr lang="en-US" dirty="0"/>
              <a:t>Query and transform the data</a:t>
            </a:r>
          </a:p>
        </p:txBody>
      </p:sp>
      <p:sp>
        <p:nvSpPr>
          <p:cNvPr id="3" name="Content Placeholder 2">
            <a:extLst>
              <a:ext uri="{FF2B5EF4-FFF2-40B4-BE49-F238E27FC236}">
                <a16:creationId xmlns:a16="http://schemas.microsoft.com/office/drawing/2014/main" id="{BEC24649-FCCE-7A8F-9F30-4ECAE330530B}"/>
              </a:ext>
            </a:extLst>
          </p:cNvPr>
          <p:cNvSpPr>
            <a:spLocks noGrp="1"/>
          </p:cNvSpPr>
          <p:nvPr>
            <p:ph idx="1"/>
          </p:nvPr>
        </p:nvSpPr>
        <p:spPr/>
        <p:txBody>
          <a:bodyPr/>
          <a:lstStyle/>
          <a:p>
            <a:pPr algn="l">
              <a:buNone/>
            </a:pPr>
            <a:r>
              <a:rPr lang="en-US" b="0" i="0" dirty="0">
                <a:solidFill>
                  <a:srgbClr val="161616"/>
                </a:solidFill>
                <a:effectLst/>
                <a:latin typeface="Segoe UI" panose="020B0502040204020203" pitchFamily="34" charset="0"/>
              </a:rPr>
              <a:t>Now that you know how to implement a data warehouse in Fabric, let's prepare the data for analytics.</a:t>
            </a:r>
          </a:p>
          <a:p>
            <a:pPr algn="l">
              <a:buNone/>
            </a:pPr>
            <a:r>
              <a:rPr lang="en-US" b="0" i="0" dirty="0">
                <a:solidFill>
                  <a:srgbClr val="161616"/>
                </a:solidFill>
                <a:effectLst/>
                <a:latin typeface="Segoe UI" panose="020B0502040204020203" pitchFamily="34" charset="0"/>
              </a:rPr>
              <a:t>There are two ways to query data from your data warehouse. The </a:t>
            </a:r>
            <a:r>
              <a:rPr lang="en-US" b="0" i="1" dirty="0">
                <a:solidFill>
                  <a:srgbClr val="161616"/>
                </a:solidFill>
                <a:effectLst/>
                <a:latin typeface="Segoe UI" panose="020B0502040204020203" pitchFamily="34" charset="0"/>
              </a:rPr>
              <a:t>Visual query editor</a:t>
            </a:r>
            <a:r>
              <a:rPr lang="en-US" b="0" i="0" dirty="0">
                <a:solidFill>
                  <a:srgbClr val="161616"/>
                </a:solidFill>
                <a:effectLst/>
                <a:latin typeface="Segoe UI" panose="020B0502040204020203" pitchFamily="34" charset="0"/>
              </a:rPr>
              <a:t> provides a no-code, drag-and-drop experience to create your queries. If you're comfortable with T-SQL, you may prefer to use the </a:t>
            </a:r>
            <a:r>
              <a:rPr lang="en-US" b="0" i="1" dirty="0">
                <a:solidFill>
                  <a:srgbClr val="161616"/>
                </a:solidFill>
                <a:effectLst/>
                <a:latin typeface="Segoe UI" panose="020B0502040204020203" pitchFamily="34" charset="0"/>
              </a:rPr>
              <a:t>SQL query editor</a:t>
            </a:r>
            <a:r>
              <a:rPr lang="en-US" b="0" i="0" dirty="0">
                <a:solidFill>
                  <a:srgbClr val="161616"/>
                </a:solidFill>
                <a:effectLst/>
                <a:latin typeface="Segoe UI" panose="020B0502040204020203" pitchFamily="34" charset="0"/>
              </a:rPr>
              <a:t> to write your queries. In both cases, you can create tables, views, and stored procedures to query data in the data warehouse and Lakehouse.</a:t>
            </a:r>
          </a:p>
          <a:p>
            <a:pPr algn="l"/>
            <a:r>
              <a:rPr lang="en-US" b="0" i="0" dirty="0">
                <a:solidFill>
                  <a:srgbClr val="161616"/>
                </a:solidFill>
                <a:effectLst/>
                <a:latin typeface="Segoe UI" panose="020B0502040204020203" pitchFamily="34" charset="0"/>
              </a:rPr>
              <a:t>There's also a SQL analytics endpoint, where you can connect from any tool.</a:t>
            </a:r>
          </a:p>
          <a:p>
            <a:endParaRPr lang="en-US" dirty="0"/>
          </a:p>
        </p:txBody>
      </p:sp>
    </p:spTree>
    <p:extLst>
      <p:ext uri="{BB962C8B-B14F-4D97-AF65-F5344CB8AC3E}">
        <p14:creationId xmlns:p14="http://schemas.microsoft.com/office/powerpoint/2010/main" val="3144442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E4C54-B2EF-B69D-DF4A-DF9A9847AA62}"/>
              </a:ext>
            </a:extLst>
          </p:cNvPr>
          <p:cNvSpPr>
            <a:spLocks noGrp="1"/>
          </p:cNvSpPr>
          <p:nvPr>
            <p:ph type="title"/>
          </p:nvPr>
        </p:nvSpPr>
        <p:spPr/>
        <p:txBody>
          <a:bodyPr>
            <a:normAutofit/>
          </a:bodyPr>
          <a:lstStyle/>
          <a:p>
            <a:r>
              <a:rPr lang="en-US" b="1" dirty="0">
                <a:effectLst/>
              </a:rPr>
              <a:t>Prepare data for analysis and reporting</a:t>
            </a:r>
            <a:endParaRPr lang="en-US" dirty="0"/>
          </a:p>
        </p:txBody>
      </p:sp>
      <p:sp>
        <p:nvSpPr>
          <p:cNvPr id="3" name="Content Placeholder 2">
            <a:extLst>
              <a:ext uri="{FF2B5EF4-FFF2-40B4-BE49-F238E27FC236}">
                <a16:creationId xmlns:a16="http://schemas.microsoft.com/office/drawing/2014/main" id="{46313C3C-EB1A-D891-05D8-1CDC5EA6C402}"/>
              </a:ext>
            </a:extLst>
          </p:cNvPr>
          <p:cNvSpPr>
            <a:spLocks noGrp="1"/>
          </p:cNvSpPr>
          <p:nvPr>
            <p:ph idx="1"/>
          </p:nvPr>
        </p:nvSpPr>
        <p:spPr/>
        <p:txBody>
          <a:bodyPr>
            <a:normAutofit lnSpcReduction="10000"/>
          </a:bodyPr>
          <a:lstStyle/>
          <a:p>
            <a:pPr algn="l">
              <a:buNone/>
            </a:pPr>
            <a:r>
              <a:rPr lang="en-US" b="0" i="0" dirty="0">
                <a:solidFill>
                  <a:srgbClr val="161616"/>
                </a:solidFill>
                <a:effectLst/>
                <a:latin typeface="Segoe UI" panose="020B0502040204020203" pitchFamily="34" charset="0"/>
              </a:rPr>
              <a:t> A </a:t>
            </a:r>
            <a:r>
              <a:rPr lang="en-US" b="0" i="1" dirty="0">
                <a:solidFill>
                  <a:srgbClr val="161616"/>
                </a:solidFill>
                <a:effectLst/>
                <a:latin typeface="Segoe UI" panose="020B0502040204020203" pitchFamily="34" charset="0"/>
              </a:rPr>
              <a:t>semantic model</a:t>
            </a:r>
            <a:r>
              <a:rPr lang="en-US" b="0" i="0" dirty="0">
                <a:solidFill>
                  <a:srgbClr val="161616"/>
                </a:solidFill>
                <a:effectLst/>
                <a:latin typeface="Segoe UI" panose="020B0502040204020203" pitchFamily="34" charset="0"/>
              </a:rPr>
              <a:t> defines the </a:t>
            </a:r>
            <a:r>
              <a:rPr lang="en-US" b="0" i="1" dirty="0">
                <a:solidFill>
                  <a:srgbClr val="161616"/>
                </a:solidFill>
                <a:effectLst/>
                <a:latin typeface="Segoe UI" panose="020B0502040204020203" pitchFamily="34" charset="0"/>
              </a:rPr>
              <a:t>relationships</a:t>
            </a:r>
            <a:r>
              <a:rPr lang="en-US" b="0" i="0" dirty="0">
                <a:solidFill>
                  <a:srgbClr val="161616"/>
                </a:solidFill>
                <a:effectLst/>
                <a:latin typeface="Segoe UI" panose="020B0502040204020203" pitchFamily="34" charset="0"/>
              </a:rPr>
              <a:t> between the different tables in the semantic model, the rules for how data is aggregated and summarized, and the calculations or </a:t>
            </a:r>
            <a:r>
              <a:rPr lang="en-US" b="0" i="1" dirty="0">
                <a:solidFill>
                  <a:srgbClr val="161616"/>
                </a:solidFill>
                <a:effectLst/>
                <a:latin typeface="Segoe UI" panose="020B0502040204020203" pitchFamily="34" charset="0"/>
              </a:rPr>
              <a:t>measures</a:t>
            </a:r>
            <a:r>
              <a:rPr lang="en-US" b="0" i="0" dirty="0">
                <a:solidFill>
                  <a:srgbClr val="161616"/>
                </a:solidFill>
                <a:effectLst/>
                <a:latin typeface="Segoe UI" panose="020B0502040204020203" pitchFamily="34" charset="0"/>
              </a:rPr>
              <a:t> that are used to derive insights from the data. These relationships and measures are included in the semantic model, which is then used to create reports in Power BI.</a:t>
            </a:r>
          </a:p>
          <a:p>
            <a:pPr algn="l"/>
            <a:r>
              <a:rPr lang="en-US" b="0" i="0" dirty="0">
                <a:solidFill>
                  <a:srgbClr val="161616"/>
                </a:solidFill>
                <a:effectLst/>
                <a:latin typeface="Segoe UI" panose="020B0502040204020203" pitchFamily="34" charset="0"/>
              </a:rPr>
              <a:t>You can easily switch between the </a:t>
            </a:r>
            <a:r>
              <a:rPr lang="en-US" b="1" i="0" dirty="0">
                <a:solidFill>
                  <a:srgbClr val="161616"/>
                </a:solidFill>
                <a:effectLst/>
                <a:latin typeface="Segoe UI" panose="020B0502040204020203" pitchFamily="34" charset="0"/>
              </a:rPr>
              <a:t>Data</a:t>
            </a:r>
            <a:r>
              <a:rPr lang="en-US" b="0" i="0" dirty="0">
                <a:solidFill>
                  <a:srgbClr val="161616"/>
                </a:solidFill>
                <a:effectLst/>
                <a:latin typeface="Segoe UI" panose="020B0502040204020203" pitchFamily="34" charset="0"/>
              </a:rPr>
              <a:t>, </a:t>
            </a:r>
            <a:r>
              <a:rPr lang="en-US" b="1" i="0" dirty="0">
                <a:solidFill>
                  <a:srgbClr val="161616"/>
                </a:solidFill>
                <a:effectLst/>
                <a:latin typeface="Segoe UI" panose="020B0502040204020203" pitchFamily="34" charset="0"/>
              </a:rPr>
              <a:t>Query</a:t>
            </a:r>
            <a:r>
              <a:rPr lang="en-US" b="0" i="0" dirty="0">
                <a:solidFill>
                  <a:srgbClr val="161616"/>
                </a:solidFill>
                <a:effectLst/>
                <a:latin typeface="Segoe UI" panose="020B0502040204020203" pitchFamily="34" charset="0"/>
              </a:rPr>
              <a:t>, and </a:t>
            </a:r>
            <a:r>
              <a:rPr lang="en-US" b="1" i="0" dirty="0">
                <a:solidFill>
                  <a:srgbClr val="161616"/>
                </a:solidFill>
                <a:effectLst/>
                <a:latin typeface="Segoe UI" panose="020B0502040204020203" pitchFamily="34" charset="0"/>
              </a:rPr>
              <a:t>Model</a:t>
            </a:r>
            <a:r>
              <a:rPr lang="en-US" b="0" i="0" dirty="0">
                <a:solidFill>
                  <a:srgbClr val="161616"/>
                </a:solidFill>
                <a:effectLst/>
                <a:latin typeface="Segoe UI" panose="020B0502040204020203" pitchFamily="34" charset="0"/>
              </a:rPr>
              <a:t> view Fabric using the menu in the bottom left corner of the screen. The </a:t>
            </a:r>
            <a:r>
              <a:rPr lang="en-US" b="1" i="0" dirty="0">
                <a:solidFill>
                  <a:srgbClr val="161616"/>
                </a:solidFill>
                <a:effectLst/>
                <a:latin typeface="Segoe UI" panose="020B0502040204020203" pitchFamily="34" charset="0"/>
              </a:rPr>
              <a:t>Data</a:t>
            </a:r>
            <a:r>
              <a:rPr lang="en-US" b="0" i="0" dirty="0">
                <a:solidFill>
                  <a:srgbClr val="161616"/>
                </a:solidFill>
                <a:effectLst/>
                <a:latin typeface="Segoe UI" panose="020B0502040204020203" pitchFamily="34" charset="0"/>
              </a:rPr>
              <a:t> view shows the tables in the semantic model, the </a:t>
            </a:r>
            <a:r>
              <a:rPr lang="en-US" b="1" i="0" dirty="0">
                <a:solidFill>
                  <a:srgbClr val="161616"/>
                </a:solidFill>
                <a:effectLst/>
                <a:latin typeface="Segoe UI" panose="020B0502040204020203" pitchFamily="34" charset="0"/>
              </a:rPr>
              <a:t>Query</a:t>
            </a:r>
            <a:r>
              <a:rPr lang="en-US" b="0" i="0" dirty="0">
                <a:solidFill>
                  <a:srgbClr val="161616"/>
                </a:solidFill>
                <a:effectLst/>
                <a:latin typeface="Segoe UI" panose="020B0502040204020203" pitchFamily="34" charset="0"/>
              </a:rPr>
              <a:t> view shows the SQL queries that are used to create the semantic model, and the </a:t>
            </a:r>
            <a:r>
              <a:rPr lang="en-US" b="1" i="0" dirty="0">
                <a:solidFill>
                  <a:srgbClr val="161616"/>
                </a:solidFill>
                <a:effectLst/>
                <a:latin typeface="Segoe UI" panose="020B0502040204020203" pitchFamily="34" charset="0"/>
              </a:rPr>
              <a:t>Model</a:t>
            </a:r>
            <a:r>
              <a:rPr lang="en-US" b="0" i="0" dirty="0">
                <a:solidFill>
                  <a:srgbClr val="161616"/>
                </a:solidFill>
                <a:effectLst/>
                <a:latin typeface="Segoe UI" panose="020B0502040204020203" pitchFamily="34" charset="0"/>
              </a:rPr>
              <a:t> view shows the semantic model.</a:t>
            </a:r>
          </a:p>
          <a:p>
            <a:endParaRPr lang="en-US" dirty="0"/>
          </a:p>
        </p:txBody>
      </p:sp>
    </p:spTree>
    <p:extLst>
      <p:ext uri="{BB962C8B-B14F-4D97-AF65-F5344CB8AC3E}">
        <p14:creationId xmlns:p14="http://schemas.microsoft.com/office/powerpoint/2010/main" val="2911326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creenshot of the SQL Query Editor displaying a T-SQL query creating a view.">
            <a:extLst>
              <a:ext uri="{FF2B5EF4-FFF2-40B4-BE49-F238E27FC236}">
                <a16:creationId xmlns:a16="http://schemas.microsoft.com/office/drawing/2014/main" id="{B0DC27D5-1326-FA98-B804-3468E7CCBD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875" y="0"/>
            <a:ext cx="108886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6110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9843E-131C-F85B-56F9-9F1B8A038153}"/>
              </a:ext>
            </a:extLst>
          </p:cNvPr>
          <p:cNvSpPr>
            <a:spLocks noGrp="1"/>
          </p:cNvSpPr>
          <p:nvPr>
            <p:ph type="title"/>
          </p:nvPr>
        </p:nvSpPr>
        <p:spPr/>
        <p:txBody>
          <a:bodyPr>
            <a:normAutofit/>
          </a:bodyPr>
          <a:lstStyle/>
          <a:p>
            <a:pPr>
              <a:spcBef>
                <a:spcPts val="2250"/>
              </a:spcBef>
              <a:spcAft>
                <a:spcPts val="1350"/>
              </a:spcAft>
            </a:pPr>
            <a:r>
              <a:rPr lang="en-US" dirty="0"/>
              <a:t>Query data using the SQL query editor</a:t>
            </a:r>
          </a:p>
        </p:txBody>
      </p:sp>
      <p:sp>
        <p:nvSpPr>
          <p:cNvPr id="3" name="Content Placeholder 2">
            <a:extLst>
              <a:ext uri="{FF2B5EF4-FFF2-40B4-BE49-F238E27FC236}">
                <a16:creationId xmlns:a16="http://schemas.microsoft.com/office/drawing/2014/main" id="{664A431B-1CCD-E917-5313-1D1DA815C1A3}"/>
              </a:ext>
            </a:extLst>
          </p:cNvPr>
          <p:cNvSpPr>
            <a:spLocks noGrp="1"/>
          </p:cNvSpPr>
          <p:nvPr>
            <p:ph idx="1"/>
          </p:nvPr>
        </p:nvSpPr>
        <p:spPr/>
        <p:txBody>
          <a:bodyPr>
            <a:normAutofit lnSpcReduction="10000"/>
          </a:bodyPr>
          <a:lstStyle/>
          <a:p>
            <a:pPr algn="l">
              <a:buNone/>
            </a:pPr>
            <a:r>
              <a:rPr lang="en-US" b="0" i="0" dirty="0">
                <a:solidFill>
                  <a:srgbClr val="161616"/>
                </a:solidFill>
                <a:effectLst/>
                <a:latin typeface="Segoe UI" panose="020B0502040204020203" pitchFamily="34" charset="0"/>
              </a:rPr>
              <a:t>The </a:t>
            </a:r>
            <a:r>
              <a:rPr lang="en-US" b="1" i="0" dirty="0">
                <a:solidFill>
                  <a:srgbClr val="161616"/>
                </a:solidFill>
                <a:effectLst/>
                <a:latin typeface="Segoe UI" panose="020B0502040204020203" pitchFamily="34" charset="0"/>
              </a:rPr>
              <a:t>SQL query editor</a:t>
            </a:r>
            <a:r>
              <a:rPr lang="en-US" b="0" i="0" dirty="0">
                <a:solidFill>
                  <a:srgbClr val="161616"/>
                </a:solidFill>
                <a:effectLst/>
                <a:latin typeface="Segoe UI" panose="020B0502040204020203" pitchFamily="34" charset="0"/>
              </a:rPr>
              <a:t> provides a query experience that includes </a:t>
            </a:r>
            <a:r>
              <a:rPr lang="en-US" b="0" i="0" dirty="0" err="1">
                <a:solidFill>
                  <a:srgbClr val="161616"/>
                </a:solidFill>
                <a:effectLst/>
                <a:latin typeface="Segoe UI" panose="020B0502040204020203" pitchFamily="34" charset="0"/>
              </a:rPr>
              <a:t>intellisense</a:t>
            </a:r>
            <a:r>
              <a:rPr lang="en-US" b="0" i="0" dirty="0">
                <a:solidFill>
                  <a:srgbClr val="161616"/>
                </a:solidFill>
                <a:effectLst/>
                <a:latin typeface="Segoe UI" panose="020B0502040204020203" pitchFamily="34" charset="0"/>
              </a:rPr>
              <a:t>, code completion, syntax highlighting, client-side parsing, and validation. If you've written T-SQL in SQL Server Management Studio (SSMS) or Azure Data Studio (ADS), you'll find it familiar.</a:t>
            </a:r>
          </a:p>
          <a:p>
            <a:pPr algn="l">
              <a:buNone/>
            </a:pPr>
            <a:r>
              <a:rPr lang="en-US" b="0" i="0" dirty="0">
                <a:solidFill>
                  <a:srgbClr val="161616"/>
                </a:solidFill>
                <a:effectLst/>
                <a:latin typeface="Segoe UI" panose="020B0502040204020203" pitchFamily="34" charset="0"/>
              </a:rPr>
              <a:t>To create a new query, use the </a:t>
            </a:r>
            <a:r>
              <a:rPr lang="en-US" b="1" i="0" dirty="0">
                <a:solidFill>
                  <a:srgbClr val="161616"/>
                </a:solidFill>
                <a:effectLst/>
                <a:latin typeface="Segoe UI" panose="020B0502040204020203" pitchFamily="34" charset="0"/>
              </a:rPr>
              <a:t>New SQL query</a:t>
            </a:r>
            <a:r>
              <a:rPr lang="en-US" b="0" i="0" dirty="0">
                <a:solidFill>
                  <a:srgbClr val="161616"/>
                </a:solidFill>
                <a:effectLst/>
                <a:latin typeface="Segoe UI" panose="020B0502040204020203" pitchFamily="34" charset="0"/>
              </a:rPr>
              <a:t> button in the menu. You can author and run your T-SQL queries here. In the example below we're creating a new view for analysts to use for reporting in Power BI.</a:t>
            </a:r>
          </a:p>
          <a:p>
            <a:pPr>
              <a:buNone/>
            </a:pPr>
            <a:br>
              <a:rPr lang="en-US" dirty="0"/>
            </a:br>
            <a:endParaRPr lang="en-US" dirty="0"/>
          </a:p>
        </p:txBody>
      </p:sp>
    </p:spTree>
    <p:extLst>
      <p:ext uri="{BB962C8B-B14F-4D97-AF65-F5344CB8AC3E}">
        <p14:creationId xmlns:p14="http://schemas.microsoft.com/office/powerpoint/2010/main" val="6840613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EA16D-9FEE-9DA9-B7F2-803E5A778DA2}"/>
              </a:ext>
            </a:extLst>
          </p:cNvPr>
          <p:cNvSpPr>
            <a:spLocks noGrp="1"/>
          </p:cNvSpPr>
          <p:nvPr>
            <p:ph type="title"/>
          </p:nvPr>
        </p:nvSpPr>
        <p:spPr/>
        <p:txBody>
          <a:bodyPr>
            <a:normAutofit/>
          </a:bodyPr>
          <a:lstStyle/>
          <a:p>
            <a:pPr>
              <a:spcBef>
                <a:spcPts val="2250"/>
              </a:spcBef>
              <a:spcAft>
                <a:spcPts val="1350"/>
              </a:spcAft>
            </a:pPr>
            <a:r>
              <a:rPr lang="en-US" b="1" i="0" dirty="0">
                <a:solidFill>
                  <a:srgbClr val="161616"/>
                </a:solidFill>
                <a:effectLst/>
                <a:latin typeface="Segoe UI" panose="020B0502040204020203" pitchFamily="34" charset="0"/>
              </a:rPr>
              <a:t>Build relationships</a:t>
            </a:r>
            <a:endParaRPr lang="en-US" dirty="0"/>
          </a:p>
        </p:txBody>
      </p:sp>
      <p:sp>
        <p:nvSpPr>
          <p:cNvPr id="3" name="Content Placeholder 2">
            <a:extLst>
              <a:ext uri="{FF2B5EF4-FFF2-40B4-BE49-F238E27FC236}">
                <a16:creationId xmlns:a16="http://schemas.microsoft.com/office/drawing/2014/main" id="{4E62225E-AF51-3DC8-5BA4-46B0EEFD32B2}"/>
              </a:ext>
            </a:extLst>
          </p:cNvPr>
          <p:cNvSpPr>
            <a:spLocks noGrp="1"/>
          </p:cNvSpPr>
          <p:nvPr>
            <p:ph idx="1"/>
          </p:nvPr>
        </p:nvSpPr>
        <p:spPr>
          <a:xfrm>
            <a:off x="228601" y="1796186"/>
            <a:ext cx="4089400" cy="4380777"/>
          </a:xfrm>
        </p:spPr>
        <p:txBody>
          <a:bodyPr/>
          <a:lstStyle/>
          <a:p>
            <a:r>
              <a:rPr lang="en-US" b="0" i="1" dirty="0">
                <a:solidFill>
                  <a:srgbClr val="161616"/>
                </a:solidFill>
                <a:effectLst/>
                <a:latin typeface="Segoe UI" panose="020B0502040204020203" pitchFamily="34" charset="0"/>
              </a:rPr>
              <a:t>Relationships</a:t>
            </a:r>
            <a:r>
              <a:rPr lang="en-US" b="0" i="0" dirty="0">
                <a:solidFill>
                  <a:srgbClr val="161616"/>
                </a:solidFill>
                <a:effectLst/>
                <a:latin typeface="Segoe UI" panose="020B0502040204020203" pitchFamily="34" charset="0"/>
              </a:rPr>
              <a:t> allow you to connect tables in the semantic model. Create relationships between tables in your data warehouse using a click-and-drag interface in Fabric in the </a:t>
            </a:r>
            <a:r>
              <a:rPr lang="en-US" b="1" i="0" dirty="0">
                <a:solidFill>
                  <a:srgbClr val="161616"/>
                </a:solidFill>
                <a:effectLst/>
                <a:latin typeface="Segoe UI" panose="020B0502040204020203" pitchFamily="34" charset="0"/>
              </a:rPr>
              <a:t>Model</a:t>
            </a:r>
            <a:r>
              <a:rPr lang="en-US" b="0" i="0" dirty="0">
                <a:solidFill>
                  <a:srgbClr val="161616"/>
                </a:solidFill>
                <a:effectLst/>
                <a:latin typeface="Segoe UI" panose="020B0502040204020203" pitchFamily="34" charset="0"/>
              </a:rPr>
              <a:t> view.</a:t>
            </a:r>
            <a:endParaRPr lang="en-US" dirty="0"/>
          </a:p>
        </p:txBody>
      </p:sp>
      <p:pic>
        <p:nvPicPr>
          <p:cNvPr id="3074" name="Picture 2" descr="Screenshot of the model view in Fabric displaying relationships between a fact table and three dimension tables.">
            <a:extLst>
              <a:ext uri="{FF2B5EF4-FFF2-40B4-BE49-F238E27FC236}">
                <a16:creationId xmlns:a16="http://schemas.microsoft.com/office/drawing/2014/main" id="{C101E76B-FFAA-0B40-2AE7-C07C4DD9B1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0329" y="1690688"/>
            <a:ext cx="7213070" cy="4380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64722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03512-E11B-38E1-F5DB-CA614221C811}"/>
              </a:ext>
            </a:extLst>
          </p:cNvPr>
          <p:cNvSpPr>
            <a:spLocks noGrp="1"/>
          </p:cNvSpPr>
          <p:nvPr>
            <p:ph type="title"/>
          </p:nvPr>
        </p:nvSpPr>
        <p:spPr/>
        <p:txBody>
          <a:bodyPr/>
          <a:lstStyle/>
          <a:p>
            <a:r>
              <a:rPr lang="en-US" dirty="0"/>
              <a:t>Create measures </a:t>
            </a:r>
          </a:p>
        </p:txBody>
      </p:sp>
      <p:sp>
        <p:nvSpPr>
          <p:cNvPr id="3" name="Content Placeholder 2">
            <a:extLst>
              <a:ext uri="{FF2B5EF4-FFF2-40B4-BE49-F238E27FC236}">
                <a16:creationId xmlns:a16="http://schemas.microsoft.com/office/drawing/2014/main" id="{1D67B741-D517-6DA4-A571-EF0C5F8BDE16}"/>
              </a:ext>
            </a:extLst>
          </p:cNvPr>
          <p:cNvSpPr>
            <a:spLocks noGrp="1"/>
          </p:cNvSpPr>
          <p:nvPr>
            <p:ph idx="1"/>
          </p:nvPr>
        </p:nvSpPr>
        <p:spPr>
          <a:xfrm>
            <a:off x="220134" y="1690688"/>
            <a:ext cx="4030134" cy="4486275"/>
          </a:xfrm>
        </p:spPr>
        <p:txBody>
          <a:bodyPr>
            <a:normAutofit fontScale="92500" lnSpcReduction="20000"/>
          </a:bodyPr>
          <a:lstStyle/>
          <a:p>
            <a:r>
              <a:rPr lang="en-US" b="0" i="1" dirty="0">
                <a:solidFill>
                  <a:srgbClr val="161616"/>
                </a:solidFill>
                <a:effectLst/>
                <a:latin typeface="Segoe UI" panose="020B0502040204020203" pitchFamily="34" charset="0"/>
              </a:rPr>
              <a:t>Measures</a:t>
            </a:r>
            <a:r>
              <a:rPr lang="en-US" b="0" i="0" dirty="0">
                <a:solidFill>
                  <a:srgbClr val="161616"/>
                </a:solidFill>
                <a:effectLst/>
                <a:latin typeface="Segoe UI" panose="020B0502040204020203" pitchFamily="34" charset="0"/>
              </a:rPr>
              <a:t> are the metrics that you want to analyze in your data warehouse. You can create measures in Fabric by using the </a:t>
            </a:r>
            <a:r>
              <a:rPr lang="en-US" b="1" i="0" dirty="0">
                <a:solidFill>
                  <a:srgbClr val="161616"/>
                </a:solidFill>
                <a:effectLst/>
                <a:latin typeface="Segoe UI" panose="020B0502040204020203" pitchFamily="34" charset="0"/>
              </a:rPr>
              <a:t>New measure</a:t>
            </a:r>
            <a:r>
              <a:rPr lang="en-US" b="0" i="0" dirty="0">
                <a:solidFill>
                  <a:srgbClr val="161616"/>
                </a:solidFill>
                <a:effectLst/>
                <a:latin typeface="Segoe UI" panose="020B0502040204020203" pitchFamily="34" charset="0"/>
              </a:rPr>
              <a:t> button in the </a:t>
            </a:r>
            <a:r>
              <a:rPr lang="en-US" b="1" i="0" dirty="0">
                <a:solidFill>
                  <a:srgbClr val="161616"/>
                </a:solidFill>
                <a:effectLst/>
                <a:latin typeface="Segoe UI" panose="020B0502040204020203" pitchFamily="34" charset="0"/>
              </a:rPr>
              <a:t>Model</a:t>
            </a:r>
            <a:r>
              <a:rPr lang="en-US" b="0" i="0" dirty="0">
                <a:solidFill>
                  <a:srgbClr val="161616"/>
                </a:solidFill>
                <a:effectLst/>
                <a:latin typeface="Segoe UI" panose="020B0502040204020203" pitchFamily="34" charset="0"/>
              </a:rPr>
              <a:t> view</a:t>
            </a:r>
          </a:p>
          <a:p>
            <a:r>
              <a:rPr lang="en-US" b="0" i="0" dirty="0">
                <a:solidFill>
                  <a:srgbClr val="161616"/>
                </a:solidFill>
                <a:effectLst/>
                <a:latin typeface="Segoe UI" panose="020B0502040204020203" pitchFamily="34" charset="0"/>
              </a:rPr>
              <a:t>Measures are calculated fields that are based on the data in the tables in your data warehouse using the Data Analysis Expressions (DAX) formula language.</a:t>
            </a:r>
            <a:endParaRPr lang="en-US" dirty="0"/>
          </a:p>
        </p:txBody>
      </p:sp>
      <p:pic>
        <p:nvPicPr>
          <p:cNvPr id="1026" name="Picture 2" descr="Screenshot of the model view in Fabric displaying the new measure button and a draft measure being written for month over month sales.">
            <a:extLst>
              <a:ext uri="{FF2B5EF4-FFF2-40B4-BE49-F238E27FC236}">
                <a16:creationId xmlns:a16="http://schemas.microsoft.com/office/drawing/2014/main" id="{23537F1D-3FE7-E5E1-102A-F7BF387FF7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4248" y="1261533"/>
            <a:ext cx="7019819" cy="5399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79029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F8CE-A19A-D341-F82F-91ECF48D6D5C}"/>
              </a:ext>
            </a:extLst>
          </p:cNvPr>
          <p:cNvSpPr>
            <a:spLocks noGrp="1"/>
          </p:cNvSpPr>
          <p:nvPr>
            <p:ph type="title"/>
          </p:nvPr>
        </p:nvSpPr>
        <p:spPr/>
        <p:txBody>
          <a:bodyPr>
            <a:normAutofit/>
          </a:bodyPr>
          <a:lstStyle/>
          <a:p>
            <a:pPr>
              <a:spcBef>
                <a:spcPts val="2250"/>
              </a:spcBef>
              <a:spcAft>
                <a:spcPts val="1350"/>
              </a:spcAft>
            </a:pPr>
            <a:r>
              <a:rPr lang="en-US" b="1" i="0" dirty="0">
                <a:solidFill>
                  <a:srgbClr val="161616"/>
                </a:solidFill>
                <a:effectLst/>
                <a:latin typeface="Segoe UI" panose="020B0502040204020203" pitchFamily="34" charset="0"/>
              </a:rPr>
              <a:t>Hide fields</a:t>
            </a:r>
            <a:endParaRPr lang="en-US" dirty="0"/>
          </a:p>
        </p:txBody>
      </p:sp>
      <p:sp>
        <p:nvSpPr>
          <p:cNvPr id="3" name="Content Placeholder 2">
            <a:extLst>
              <a:ext uri="{FF2B5EF4-FFF2-40B4-BE49-F238E27FC236}">
                <a16:creationId xmlns:a16="http://schemas.microsoft.com/office/drawing/2014/main" id="{AE0FB5F6-0E23-785E-C0DF-CC11E83B7730}"/>
              </a:ext>
            </a:extLst>
          </p:cNvPr>
          <p:cNvSpPr>
            <a:spLocks noGrp="1"/>
          </p:cNvSpPr>
          <p:nvPr>
            <p:ph idx="1"/>
          </p:nvPr>
        </p:nvSpPr>
        <p:spPr>
          <a:xfrm>
            <a:off x="838200" y="1825625"/>
            <a:ext cx="6832600" cy="4351338"/>
          </a:xfrm>
        </p:spPr>
        <p:txBody>
          <a:bodyPr/>
          <a:lstStyle/>
          <a:p>
            <a:r>
              <a:rPr lang="en-US" b="0" i="0" dirty="0">
                <a:solidFill>
                  <a:srgbClr val="161616"/>
                </a:solidFill>
                <a:effectLst/>
                <a:latin typeface="Segoe UI" panose="020B0502040204020203" pitchFamily="34" charset="0"/>
              </a:rPr>
              <a:t>Building out the semantic model is a critical component to preparing your data for use in downstream reporting. To simplify things for your report builders, you can hide elements from view, either a table or a column. Right-click on the table or column and select </a:t>
            </a:r>
            <a:r>
              <a:rPr lang="en-US" b="1" i="0" dirty="0">
                <a:solidFill>
                  <a:srgbClr val="161616"/>
                </a:solidFill>
                <a:effectLst/>
                <a:latin typeface="Segoe UI" panose="020B0502040204020203" pitchFamily="34" charset="0"/>
              </a:rPr>
              <a:t>Hide</a:t>
            </a:r>
            <a:r>
              <a:rPr lang="en-US" b="0" i="0" dirty="0">
                <a:solidFill>
                  <a:srgbClr val="161616"/>
                </a:solidFill>
                <a:effectLst/>
                <a:latin typeface="Segoe UI" panose="020B0502040204020203" pitchFamily="34" charset="0"/>
              </a:rPr>
              <a:t>. Hiding fields removes the table or column from the model view, but it will still be available for use in the semantic model.</a:t>
            </a:r>
            <a:endParaRPr lang="en-US" dirty="0"/>
          </a:p>
        </p:txBody>
      </p:sp>
      <p:pic>
        <p:nvPicPr>
          <p:cNvPr id="2050" name="Picture 2" descr="Screenshot of the FactSalesOrder table with hidden fields highlighted in yellow.">
            <a:extLst>
              <a:ext uri="{FF2B5EF4-FFF2-40B4-BE49-F238E27FC236}">
                <a16:creationId xmlns:a16="http://schemas.microsoft.com/office/drawing/2014/main" id="{33A0A9D5-9173-72B5-6964-89355D57AB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3442" y="2659063"/>
            <a:ext cx="3448050" cy="2505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96702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1D087-7C76-C096-1C96-4DED408034C8}"/>
              </a:ext>
            </a:extLst>
          </p:cNvPr>
          <p:cNvSpPr>
            <a:spLocks noGrp="1"/>
          </p:cNvSpPr>
          <p:nvPr>
            <p:ph type="title"/>
          </p:nvPr>
        </p:nvSpPr>
        <p:spPr/>
        <p:txBody>
          <a:bodyPr/>
          <a:lstStyle/>
          <a:p>
            <a:r>
              <a:rPr lang="en-US" dirty="0"/>
              <a:t>Semantic model</a:t>
            </a:r>
          </a:p>
        </p:txBody>
      </p:sp>
      <p:sp>
        <p:nvSpPr>
          <p:cNvPr id="3" name="Content Placeholder 2">
            <a:extLst>
              <a:ext uri="{FF2B5EF4-FFF2-40B4-BE49-F238E27FC236}">
                <a16:creationId xmlns:a16="http://schemas.microsoft.com/office/drawing/2014/main" id="{8610FEE4-B557-D2B0-54DC-7B1D78E18A25}"/>
              </a:ext>
            </a:extLst>
          </p:cNvPr>
          <p:cNvSpPr>
            <a:spLocks noGrp="1"/>
          </p:cNvSpPr>
          <p:nvPr>
            <p:ph idx="1"/>
          </p:nvPr>
        </p:nvSpPr>
        <p:spPr/>
        <p:txBody>
          <a:bodyPr>
            <a:normAutofit fontScale="92500"/>
          </a:bodyPr>
          <a:lstStyle/>
          <a:p>
            <a:pPr algn="l">
              <a:buNone/>
            </a:pPr>
            <a:r>
              <a:rPr lang="en-US" b="0" i="0" dirty="0">
                <a:solidFill>
                  <a:srgbClr val="161616"/>
                </a:solidFill>
                <a:effectLst/>
                <a:latin typeface="Segoe UI" panose="020B0502040204020203" pitchFamily="34" charset="0"/>
              </a:rPr>
              <a:t>Every time a data warehouse is created, Fabric creates a </a:t>
            </a:r>
            <a:r>
              <a:rPr lang="en-US" b="0" i="1" dirty="0">
                <a:solidFill>
                  <a:srgbClr val="161616"/>
                </a:solidFill>
                <a:effectLst/>
                <a:latin typeface="Segoe UI" panose="020B0502040204020203" pitchFamily="34" charset="0"/>
              </a:rPr>
              <a:t>semantic model</a:t>
            </a:r>
            <a:r>
              <a:rPr lang="en-US" b="0" i="0" dirty="0">
                <a:solidFill>
                  <a:srgbClr val="161616"/>
                </a:solidFill>
                <a:effectLst/>
                <a:latin typeface="Segoe UI" panose="020B0502040204020203" pitchFamily="34" charset="0"/>
              </a:rPr>
              <a:t> for analysts and/or business users to connect to for reporting.</a:t>
            </a:r>
          </a:p>
          <a:p>
            <a:pPr algn="l">
              <a:buNone/>
            </a:pPr>
            <a:r>
              <a:rPr lang="en-US" b="0" i="0" dirty="0">
                <a:solidFill>
                  <a:srgbClr val="161616"/>
                </a:solidFill>
                <a:effectLst/>
                <a:latin typeface="Segoe UI" panose="020B0502040204020203" pitchFamily="34" charset="0"/>
              </a:rPr>
              <a:t>Semantic model has metrics that are used to create reports. Simply put, analysts use the semantic model you created in your warehouse, which is stored in a semantic model. If you're familiar with Power BI, working with semantic models created by the data warehouse experience will be straightforward.</a:t>
            </a:r>
          </a:p>
          <a:p>
            <a:pPr algn="l"/>
            <a:r>
              <a:rPr lang="en-US" b="0" i="0" dirty="0">
                <a:solidFill>
                  <a:srgbClr val="161616"/>
                </a:solidFill>
                <a:effectLst/>
                <a:latin typeface="Segoe UI" panose="020B0502040204020203" pitchFamily="34" charset="0"/>
              </a:rPr>
              <a:t>Semantic models are automatically kept in sync with the data warehouse, so you don't have to worry about maintaining them. You can also create custom semantic models to meet your specific needs.</a:t>
            </a:r>
          </a:p>
          <a:p>
            <a:endParaRPr lang="en-US" dirty="0"/>
          </a:p>
        </p:txBody>
      </p:sp>
    </p:spTree>
    <p:extLst>
      <p:ext uri="{BB962C8B-B14F-4D97-AF65-F5344CB8AC3E}">
        <p14:creationId xmlns:p14="http://schemas.microsoft.com/office/powerpoint/2010/main" val="9311604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1F8E0-DBE1-2533-17D4-A8CCC48CA137}"/>
              </a:ext>
            </a:extLst>
          </p:cNvPr>
          <p:cNvSpPr>
            <a:spLocks noGrp="1"/>
          </p:cNvSpPr>
          <p:nvPr>
            <p:ph type="title"/>
          </p:nvPr>
        </p:nvSpPr>
        <p:spPr/>
        <p:txBody>
          <a:bodyPr/>
          <a:lstStyle/>
          <a:p>
            <a:r>
              <a:rPr lang="en-US" dirty="0"/>
              <a:t>Default semantic model</a:t>
            </a:r>
          </a:p>
        </p:txBody>
      </p:sp>
      <p:sp>
        <p:nvSpPr>
          <p:cNvPr id="3" name="Content Placeholder 2">
            <a:extLst>
              <a:ext uri="{FF2B5EF4-FFF2-40B4-BE49-F238E27FC236}">
                <a16:creationId xmlns:a16="http://schemas.microsoft.com/office/drawing/2014/main" id="{23DA0AC3-3A66-1583-9880-5D786EBE3676}"/>
              </a:ext>
            </a:extLst>
          </p:cNvPr>
          <p:cNvSpPr>
            <a:spLocks noGrp="1"/>
          </p:cNvSpPr>
          <p:nvPr>
            <p:ph idx="1"/>
          </p:nvPr>
        </p:nvSpPr>
        <p:spPr/>
        <p:txBody>
          <a:bodyPr>
            <a:normAutofit lnSpcReduction="10000"/>
          </a:bodyPr>
          <a:lstStyle/>
          <a:p>
            <a:pPr algn="l">
              <a:buNone/>
            </a:pPr>
            <a:r>
              <a:rPr lang="en-US" b="0" i="0" dirty="0">
                <a:solidFill>
                  <a:srgbClr val="161616"/>
                </a:solidFill>
                <a:effectLst/>
                <a:latin typeface="Segoe UI" panose="020B0502040204020203" pitchFamily="34" charset="0"/>
              </a:rPr>
              <a:t>There's also a </a:t>
            </a:r>
            <a:r>
              <a:rPr lang="en-US" b="0" i="1" dirty="0">
                <a:solidFill>
                  <a:srgbClr val="161616"/>
                </a:solidFill>
                <a:effectLst/>
                <a:latin typeface="Segoe UI" panose="020B0502040204020203" pitchFamily="34" charset="0"/>
              </a:rPr>
              <a:t>default semantic model</a:t>
            </a:r>
            <a:r>
              <a:rPr lang="en-US" b="0" i="0" dirty="0">
                <a:solidFill>
                  <a:srgbClr val="161616"/>
                </a:solidFill>
                <a:effectLst/>
                <a:latin typeface="Segoe UI" panose="020B0502040204020203" pitchFamily="34" charset="0"/>
              </a:rPr>
              <a:t> automatically created for you in Fabric. It inherits business logic from the parent </a:t>
            </a:r>
            <a:r>
              <a:rPr lang="en-US" b="0" i="0" dirty="0" err="1">
                <a:solidFill>
                  <a:srgbClr val="161616"/>
                </a:solidFill>
                <a:effectLst/>
                <a:latin typeface="Segoe UI" panose="020B0502040204020203" pitchFamily="34" charset="0"/>
              </a:rPr>
              <a:t>lakehouse</a:t>
            </a:r>
            <a:r>
              <a:rPr lang="en-US" b="0" i="0" dirty="0">
                <a:solidFill>
                  <a:srgbClr val="161616"/>
                </a:solidFill>
                <a:effectLst/>
                <a:latin typeface="Segoe UI" panose="020B0502040204020203" pitchFamily="34" charset="0"/>
              </a:rPr>
              <a:t> or warehouse, which initiates the downstream analytics experience for business intelligence and analysis. This semantic model is managed, optimized, and kept in sync for you.</a:t>
            </a:r>
          </a:p>
          <a:p>
            <a:pPr algn="l"/>
            <a:r>
              <a:rPr lang="en-US" b="0" i="0" dirty="0">
                <a:solidFill>
                  <a:srgbClr val="161616"/>
                </a:solidFill>
                <a:effectLst/>
                <a:latin typeface="Segoe UI" panose="020B0502040204020203" pitchFamily="34" charset="0"/>
              </a:rPr>
              <a:t>New tables in the Lakehouse are automatically added to the default semantic model. Users can also manually select tables or views from the warehouse they want included in the model for more flexibility. Objects that are in the default semantic model are created as a layout in the model view.</a:t>
            </a:r>
          </a:p>
          <a:p>
            <a:endParaRPr lang="en-US" dirty="0"/>
          </a:p>
        </p:txBody>
      </p:sp>
    </p:spTree>
    <p:extLst>
      <p:ext uri="{BB962C8B-B14F-4D97-AF65-F5344CB8AC3E}">
        <p14:creationId xmlns:p14="http://schemas.microsoft.com/office/powerpoint/2010/main" val="4055091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42E43-0922-4D8B-26CF-21DE2BBA1CAE}"/>
              </a:ext>
            </a:extLst>
          </p:cNvPr>
          <p:cNvSpPr>
            <a:spLocks noGrp="1"/>
          </p:cNvSpPr>
          <p:nvPr>
            <p:ph type="title"/>
          </p:nvPr>
        </p:nvSpPr>
        <p:spPr/>
        <p:txBody>
          <a:bodyPr>
            <a:normAutofit/>
          </a:bodyPr>
          <a:lstStyle/>
          <a:p>
            <a:r>
              <a:rPr lang="en-US" b="1" dirty="0">
                <a:effectLst/>
              </a:rPr>
              <a:t>Secure and monitor your data warehouse</a:t>
            </a:r>
            <a:endParaRPr lang="en-US" dirty="0"/>
          </a:p>
        </p:txBody>
      </p:sp>
      <p:sp>
        <p:nvSpPr>
          <p:cNvPr id="3" name="Content Placeholder 2">
            <a:extLst>
              <a:ext uri="{FF2B5EF4-FFF2-40B4-BE49-F238E27FC236}">
                <a16:creationId xmlns:a16="http://schemas.microsoft.com/office/drawing/2014/main" id="{567D5EA5-BD38-08CF-E8BA-9B501C774FBB}"/>
              </a:ext>
            </a:extLst>
          </p:cNvPr>
          <p:cNvSpPr>
            <a:spLocks noGrp="1"/>
          </p:cNvSpPr>
          <p:nvPr>
            <p:ph idx="1"/>
          </p:nvPr>
        </p:nvSpPr>
        <p:spPr/>
        <p:txBody>
          <a:bodyPr>
            <a:normAutofit fontScale="70000" lnSpcReduction="20000"/>
          </a:bodyPr>
          <a:lstStyle/>
          <a:p>
            <a:pPr algn="l">
              <a:buNone/>
            </a:pPr>
            <a:r>
              <a:rPr lang="en-US" b="0" i="0" dirty="0">
                <a:solidFill>
                  <a:srgbClr val="161616"/>
                </a:solidFill>
                <a:effectLst/>
                <a:latin typeface="Segoe UI" panose="020B0502040204020203" pitchFamily="34" charset="0"/>
              </a:rPr>
              <a:t>Data warehouse security is important to protect your data from unauthorized access. Fabric provides a number of security features to help you secure your data warehouse. These include:</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Role-based access control (RBAC) to control access to the warehouse and its data.</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SSL encryption to secure the communication between the warehouse and the client applications.</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Azure Storage Service Encryption to protect the data in transit and at rest.</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Azure Monitor and Azure Log Analytics to monitor the warehouse activity and audit the access to the data.</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Multifactor authentication (MFA) to add an extra layer of security to user accounts.</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Microsoft Entra ID integration to manage the user identities and access to the warehouse.</a:t>
            </a:r>
          </a:p>
        </p:txBody>
      </p:sp>
    </p:spTree>
    <p:extLst>
      <p:ext uri="{BB962C8B-B14F-4D97-AF65-F5344CB8AC3E}">
        <p14:creationId xmlns:p14="http://schemas.microsoft.com/office/powerpoint/2010/main" val="16339828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06176-97EE-5E79-D2DB-A7F0F534E420}"/>
              </a:ext>
            </a:extLst>
          </p:cNvPr>
          <p:cNvSpPr>
            <a:spLocks noGrp="1"/>
          </p:cNvSpPr>
          <p:nvPr>
            <p:ph type="title"/>
          </p:nvPr>
        </p:nvSpPr>
        <p:spPr/>
        <p:txBody>
          <a:bodyPr/>
          <a:lstStyle/>
          <a:p>
            <a:r>
              <a:rPr lang="en-US" dirty="0"/>
              <a:t>Permission</a:t>
            </a:r>
          </a:p>
        </p:txBody>
      </p:sp>
      <p:sp>
        <p:nvSpPr>
          <p:cNvPr id="3" name="Content Placeholder 2">
            <a:extLst>
              <a:ext uri="{FF2B5EF4-FFF2-40B4-BE49-F238E27FC236}">
                <a16:creationId xmlns:a16="http://schemas.microsoft.com/office/drawing/2014/main" id="{0C1B8645-72DB-C7D9-AA71-142E4188DABE}"/>
              </a:ext>
            </a:extLst>
          </p:cNvPr>
          <p:cNvSpPr>
            <a:spLocks noGrp="1"/>
          </p:cNvSpPr>
          <p:nvPr>
            <p:ph idx="1"/>
          </p:nvPr>
        </p:nvSpPr>
        <p:spPr/>
        <p:txBody>
          <a:bodyPr/>
          <a:lstStyle/>
          <a:p>
            <a:pPr algn="l">
              <a:buNone/>
            </a:pPr>
            <a:r>
              <a:rPr lang="en-US" b="0" i="0" dirty="0">
                <a:solidFill>
                  <a:srgbClr val="161616"/>
                </a:solidFill>
                <a:effectLst/>
                <a:latin typeface="Segoe UI" panose="020B0502040204020203" pitchFamily="34" charset="0"/>
              </a:rPr>
              <a:t>Data in Fabric is organized into workspaces, which are used to control access and manage the lifecycle of data and services. Appropriate workspace roles are the first line of defense in securing your data warehouse.</a:t>
            </a:r>
          </a:p>
          <a:p>
            <a:pPr algn="l"/>
            <a:r>
              <a:rPr lang="en-US" b="0" i="0" dirty="0">
                <a:solidFill>
                  <a:srgbClr val="161616"/>
                </a:solidFill>
                <a:effectLst/>
                <a:latin typeface="Segoe UI" panose="020B0502040204020203" pitchFamily="34" charset="0"/>
              </a:rPr>
              <a:t>In addition to workspace roles, you can grant </a:t>
            </a:r>
            <a:r>
              <a:rPr lang="en-US" b="0" i="1" dirty="0">
                <a:solidFill>
                  <a:srgbClr val="161616"/>
                </a:solidFill>
                <a:effectLst/>
                <a:latin typeface="Segoe UI" panose="020B0502040204020203" pitchFamily="34" charset="0"/>
              </a:rPr>
              <a:t>item permissions</a:t>
            </a:r>
            <a:r>
              <a:rPr lang="en-US" b="0" i="0" dirty="0">
                <a:solidFill>
                  <a:srgbClr val="161616"/>
                </a:solidFill>
                <a:effectLst/>
                <a:latin typeface="Segoe UI" panose="020B0502040204020203" pitchFamily="34" charset="0"/>
              </a:rPr>
              <a:t> and access through SQL.</a:t>
            </a:r>
          </a:p>
          <a:p>
            <a:endParaRPr lang="en-US" dirty="0"/>
          </a:p>
        </p:txBody>
      </p:sp>
    </p:spTree>
    <p:extLst>
      <p:ext uri="{BB962C8B-B14F-4D97-AF65-F5344CB8AC3E}">
        <p14:creationId xmlns:p14="http://schemas.microsoft.com/office/powerpoint/2010/main" val="22005422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2F8B7-C0F0-DABF-B12E-D8BE69821D00}"/>
              </a:ext>
            </a:extLst>
          </p:cNvPr>
          <p:cNvSpPr>
            <a:spLocks noGrp="1"/>
          </p:cNvSpPr>
          <p:nvPr>
            <p:ph type="title"/>
          </p:nvPr>
        </p:nvSpPr>
        <p:spPr/>
        <p:txBody>
          <a:bodyPr/>
          <a:lstStyle/>
          <a:p>
            <a:r>
              <a:rPr lang="en-US" dirty="0"/>
              <a:t>Item permission</a:t>
            </a:r>
          </a:p>
        </p:txBody>
      </p:sp>
      <p:sp>
        <p:nvSpPr>
          <p:cNvPr id="3" name="Content Placeholder 2">
            <a:extLst>
              <a:ext uri="{FF2B5EF4-FFF2-40B4-BE49-F238E27FC236}">
                <a16:creationId xmlns:a16="http://schemas.microsoft.com/office/drawing/2014/main" id="{CDA6CB39-F6DA-7CB8-8CD2-27968C1F186A}"/>
              </a:ext>
            </a:extLst>
          </p:cNvPr>
          <p:cNvSpPr>
            <a:spLocks noGrp="1"/>
          </p:cNvSpPr>
          <p:nvPr>
            <p:ph idx="1"/>
          </p:nvPr>
        </p:nvSpPr>
        <p:spPr/>
        <p:txBody>
          <a:bodyPr>
            <a:normAutofit fontScale="77500" lnSpcReduction="20000"/>
          </a:bodyPr>
          <a:lstStyle/>
          <a:p>
            <a:pPr algn="l">
              <a:buNone/>
            </a:pPr>
            <a:r>
              <a:rPr lang="en-US" b="0" i="0" dirty="0">
                <a:solidFill>
                  <a:srgbClr val="161616"/>
                </a:solidFill>
                <a:effectLst/>
                <a:latin typeface="Segoe UI" panose="020B0502040204020203" pitchFamily="34" charset="0"/>
              </a:rPr>
              <a:t>In contrast to workspace roles, which apply to all items within a workspace, you can use </a:t>
            </a:r>
            <a:r>
              <a:rPr lang="en-US" b="0" i="1" dirty="0">
                <a:solidFill>
                  <a:srgbClr val="161616"/>
                </a:solidFill>
                <a:effectLst/>
                <a:latin typeface="Segoe UI" panose="020B0502040204020203" pitchFamily="34" charset="0"/>
              </a:rPr>
              <a:t>item permissions</a:t>
            </a:r>
            <a:r>
              <a:rPr lang="en-US" b="0" i="0" dirty="0">
                <a:solidFill>
                  <a:srgbClr val="161616"/>
                </a:solidFill>
                <a:effectLst/>
                <a:latin typeface="Segoe UI" panose="020B0502040204020203" pitchFamily="34" charset="0"/>
              </a:rPr>
              <a:t> to grant access to individual warehouses. This enables you to share a single data warehouse for downstream consumption.</a:t>
            </a:r>
          </a:p>
          <a:p>
            <a:pPr algn="l">
              <a:buNone/>
            </a:pPr>
            <a:r>
              <a:rPr lang="en-US" b="0" i="0" dirty="0">
                <a:solidFill>
                  <a:srgbClr val="161616"/>
                </a:solidFill>
                <a:effectLst/>
                <a:latin typeface="Segoe UI" panose="020B0502040204020203" pitchFamily="34" charset="0"/>
              </a:rPr>
              <a:t>You can grant permissions to users via T-SQL or in the Fabric portal. Grant the following permissions to users who need to access your data warehouse:</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Read: Allows the user to CONNECT using the SQL connection string.</a:t>
            </a:r>
          </a:p>
          <a:p>
            <a:pPr algn="l">
              <a:spcBef>
                <a:spcPts val="1200"/>
              </a:spcBef>
              <a:spcAft>
                <a:spcPts val="1200"/>
              </a:spcAft>
              <a:buFont typeface="Arial" panose="020B0604020202020204" pitchFamily="34" charset="0"/>
              <a:buChar char="•"/>
            </a:pPr>
            <a:r>
              <a:rPr lang="en-US" b="0" i="0" dirty="0" err="1">
                <a:solidFill>
                  <a:srgbClr val="161616"/>
                </a:solidFill>
                <a:effectLst/>
                <a:latin typeface="Segoe UI" panose="020B0502040204020203" pitchFamily="34" charset="0"/>
              </a:rPr>
              <a:t>ReadData</a:t>
            </a:r>
            <a:r>
              <a:rPr lang="en-US" b="0" i="0" dirty="0">
                <a:solidFill>
                  <a:srgbClr val="161616"/>
                </a:solidFill>
                <a:effectLst/>
                <a:latin typeface="Segoe UI" panose="020B0502040204020203" pitchFamily="34" charset="0"/>
              </a:rPr>
              <a:t>: Allows the user to read data from any table/view within the warehouse.</a:t>
            </a:r>
          </a:p>
          <a:p>
            <a:pPr algn="l">
              <a:spcBef>
                <a:spcPts val="1200"/>
              </a:spcBef>
              <a:spcAft>
                <a:spcPts val="1200"/>
              </a:spcAft>
              <a:buFont typeface="Arial" panose="020B0604020202020204" pitchFamily="34" charset="0"/>
              <a:buChar char="•"/>
            </a:pPr>
            <a:r>
              <a:rPr lang="en-US" b="0" i="0" dirty="0" err="1">
                <a:solidFill>
                  <a:srgbClr val="161616"/>
                </a:solidFill>
                <a:effectLst/>
                <a:latin typeface="Segoe UI" panose="020B0502040204020203" pitchFamily="34" charset="0"/>
              </a:rPr>
              <a:t>ReadAll</a:t>
            </a:r>
            <a:r>
              <a:rPr lang="en-US" b="0" i="0" dirty="0">
                <a:solidFill>
                  <a:srgbClr val="161616"/>
                </a:solidFill>
                <a:effectLst/>
                <a:latin typeface="Segoe UI" panose="020B0502040204020203" pitchFamily="34" charset="0"/>
              </a:rPr>
              <a:t>: Allows user to read data the raw parquet files in </a:t>
            </a:r>
            <a:r>
              <a:rPr lang="en-US" b="0" i="0" dirty="0" err="1">
                <a:solidFill>
                  <a:srgbClr val="161616"/>
                </a:solidFill>
                <a:effectLst/>
                <a:latin typeface="Segoe UI" panose="020B0502040204020203" pitchFamily="34" charset="0"/>
              </a:rPr>
              <a:t>OneLake</a:t>
            </a:r>
            <a:r>
              <a:rPr lang="en-US" b="0" i="0" dirty="0">
                <a:solidFill>
                  <a:srgbClr val="161616"/>
                </a:solidFill>
                <a:effectLst/>
                <a:latin typeface="Segoe UI" panose="020B0502040204020203" pitchFamily="34" charset="0"/>
              </a:rPr>
              <a:t> that can be consumed by Spark.</a:t>
            </a:r>
          </a:p>
          <a:p>
            <a:pPr algn="l"/>
            <a:r>
              <a:rPr lang="en-US" b="0" i="0" dirty="0">
                <a:solidFill>
                  <a:srgbClr val="161616"/>
                </a:solidFill>
                <a:effectLst/>
                <a:latin typeface="Segoe UI" panose="020B0502040204020203" pitchFamily="34" charset="0"/>
              </a:rPr>
              <a:t>A user connection to the SQL analytics endpoint will fail without Read permission at a minimum.</a:t>
            </a:r>
          </a:p>
        </p:txBody>
      </p:sp>
    </p:spTree>
    <p:extLst>
      <p:ext uri="{BB962C8B-B14F-4D97-AF65-F5344CB8AC3E}">
        <p14:creationId xmlns:p14="http://schemas.microsoft.com/office/powerpoint/2010/main" val="32283915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9564A-6D5A-33F5-E8E6-A1275589B211}"/>
              </a:ext>
            </a:extLst>
          </p:cNvPr>
          <p:cNvSpPr>
            <a:spLocks noGrp="1"/>
          </p:cNvSpPr>
          <p:nvPr>
            <p:ph type="title"/>
          </p:nvPr>
        </p:nvSpPr>
        <p:spPr/>
        <p:txBody>
          <a:bodyPr/>
          <a:lstStyle/>
          <a:p>
            <a:r>
              <a:rPr lang="en-US" dirty="0"/>
              <a:t>Monitoring</a:t>
            </a:r>
          </a:p>
        </p:txBody>
      </p:sp>
      <p:sp>
        <p:nvSpPr>
          <p:cNvPr id="3" name="Content Placeholder 2">
            <a:extLst>
              <a:ext uri="{FF2B5EF4-FFF2-40B4-BE49-F238E27FC236}">
                <a16:creationId xmlns:a16="http://schemas.microsoft.com/office/drawing/2014/main" id="{16469836-CE48-5017-D31F-B2EE3506F212}"/>
              </a:ext>
            </a:extLst>
          </p:cNvPr>
          <p:cNvSpPr>
            <a:spLocks noGrp="1"/>
          </p:cNvSpPr>
          <p:nvPr>
            <p:ph idx="1"/>
          </p:nvPr>
        </p:nvSpPr>
        <p:spPr/>
        <p:txBody>
          <a:bodyPr>
            <a:normAutofit fontScale="70000" lnSpcReduction="20000"/>
          </a:bodyPr>
          <a:lstStyle/>
          <a:p>
            <a:pPr algn="l">
              <a:buNone/>
            </a:pPr>
            <a:r>
              <a:rPr lang="en-US" b="0" i="0" dirty="0">
                <a:solidFill>
                  <a:srgbClr val="161616"/>
                </a:solidFill>
                <a:effectLst/>
                <a:latin typeface="Segoe UI" panose="020B0502040204020203" pitchFamily="34" charset="0"/>
              </a:rPr>
              <a:t>Monitoring activities in your data warehouse is crucial to ensure optimal performance, efficient resource utilization, and security. It helps you identify issues, detect anomalies, and take action to keep the data warehouse running smoothly and securely.</a:t>
            </a:r>
          </a:p>
          <a:p>
            <a:pPr algn="l">
              <a:buNone/>
            </a:pPr>
            <a:r>
              <a:rPr lang="en-US" b="0" i="0" dirty="0">
                <a:solidFill>
                  <a:srgbClr val="161616"/>
                </a:solidFill>
                <a:effectLst/>
                <a:latin typeface="Segoe UI" panose="020B0502040204020203" pitchFamily="34" charset="0"/>
              </a:rPr>
              <a:t>You can use </a:t>
            </a:r>
            <a:r>
              <a:rPr lang="en-US" b="0" i="1" dirty="0">
                <a:solidFill>
                  <a:srgbClr val="161616"/>
                </a:solidFill>
                <a:effectLst/>
                <a:latin typeface="Segoe UI" panose="020B0502040204020203" pitchFamily="34" charset="0"/>
              </a:rPr>
              <a:t>dynamic management views</a:t>
            </a:r>
            <a:r>
              <a:rPr lang="en-US" b="0" i="0" dirty="0">
                <a:solidFill>
                  <a:srgbClr val="161616"/>
                </a:solidFill>
                <a:effectLst/>
                <a:latin typeface="Segoe UI" panose="020B0502040204020203" pitchFamily="34" charset="0"/>
              </a:rPr>
              <a:t> (DMVs) to monitor connection, session, and request status to see live SQL query lifecycle insights. With DMVs, you can get details like the number of active queries and identify which queries are running for an extended period and require termination.</a:t>
            </a:r>
          </a:p>
          <a:p>
            <a:pPr algn="l">
              <a:buNone/>
            </a:pPr>
            <a:r>
              <a:rPr lang="en-US" b="0" i="0" dirty="0">
                <a:solidFill>
                  <a:srgbClr val="161616"/>
                </a:solidFill>
                <a:effectLst/>
                <a:latin typeface="Segoe UI" panose="020B0502040204020203" pitchFamily="34" charset="0"/>
              </a:rPr>
              <a:t>There are currently three DMVs available to use in Fabric:</a:t>
            </a:r>
          </a:p>
          <a:p>
            <a:pPr algn="l">
              <a:spcBef>
                <a:spcPts val="1200"/>
              </a:spcBef>
              <a:spcAft>
                <a:spcPts val="1200"/>
              </a:spcAft>
              <a:buFont typeface="Arial" panose="020B0604020202020204" pitchFamily="34" charset="0"/>
              <a:buChar char="•"/>
            </a:pPr>
            <a:r>
              <a:rPr lang="en-US" b="0" i="0" dirty="0" err="1">
                <a:solidFill>
                  <a:srgbClr val="161616"/>
                </a:solidFill>
                <a:effectLst/>
                <a:latin typeface="Segoe UI" panose="020B0502040204020203" pitchFamily="34" charset="0"/>
              </a:rPr>
              <a:t>sys.dm_exec_connections</a:t>
            </a:r>
            <a:r>
              <a:rPr lang="en-US" b="0" i="0" dirty="0">
                <a:solidFill>
                  <a:srgbClr val="161616"/>
                </a:solidFill>
                <a:effectLst/>
                <a:latin typeface="Segoe UI" panose="020B0502040204020203" pitchFamily="34" charset="0"/>
              </a:rPr>
              <a:t>: Returns information about each connection established between the warehouse and the engine.</a:t>
            </a:r>
          </a:p>
          <a:p>
            <a:pPr algn="l">
              <a:spcBef>
                <a:spcPts val="1200"/>
              </a:spcBef>
              <a:spcAft>
                <a:spcPts val="1200"/>
              </a:spcAft>
              <a:buFont typeface="Arial" panose="020B0604020202020204" pitchFamily="34" charset="0"/>
              <a:buChar char="•"/>
            </a:pPr>
            <a:r>
              <a:rPr lang="en-US" b="0" i="0" dirty="0" err="1">
                <a:solidFill>
                  <a:srgbClr val="161616"/>
                </a:solidFill>
                <a:effectLst/>
                <a:latin typeface="Segoe UI" panose="020B0502040204020203" pitchFamily="34" charset="0"/>
              </a:rPr>
              <a:t>sys.dm_exec_sessions</a:t>
            </a:r>
            <a:r>
              <a:rPr lang="en-US" b="0" i="0" dirty="0">
                <a:solidFill>
                  <a:srgbClr val="161616"/>
                </a:solidFill>
                <a:effectLst/>
                <a:latin typeface="Segoe UI" panose="020B0502040204020203" pitchFamily="34" charset="0"/>
              </a:rPr>
              <a:t>: Returns information about each session authenticated between the item and engine.</a:t>
            </a:r>
          </a:p>
          <a:p>
            <a:pPr algn="l">
              <a:spcBef>
                <a:spcPts val="1200"/>
              </a:spcBef>
              <a:spcAft>
                <a:spcPts val="1200"/>
              </a:spcAft>
              <a:buFont typeface="Arial" panose="020B0604020202020204" pitchFamily="34" charset="0"/>
              <a:buChar char="•"/>
            </a:pPr>
            <a:r>
              <a:rPr lang="en-US" b="0" i="0" dirty="0" err="1">
                <a:solidFill>
                  <a:srgbClr val="161616"/>
                </a:solidFill>
                <a:effectLst/>
                <a:latin typeface="Segoe UI" panose="020B0502040204020203" pitchFamily="34" charset="0"/>
              </a:rPr>
              <a:t>sys.dm_exec_requests</a:t>
            </a:r>
            <a:r>
              <a:rPr lang="en-US" b="0" i="0" dirty="0">
                <a:solidFill>
                  <a:srgbClr val="161616"/>
                </a:solidFill>
                <a:effectLst/>
                <a:latin typeface="Segoe UI" panose="020B0502040204020203" pitchFamily="34" charset="0"/>
              </a:rPr>
              <a:t>: Returns information about each active request in a session.</a:t>
            </a:r>
          </a:p>
        </p:txBody>
      </p:sp>
    </p:spTree>
    <p:extLst>
      <p:ext uri="{BB962C8B-B14F-4D97-AF65-F5344CB8AC3E}">
        <p14:creationId xmlns:p14="http://schemas.microsoft.com/office/powerpoint/2010/main" val="25565855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7C231-76E1-F6F1-EE73-94BEDC3788FA}"/>
              </a:ext>
            </a:extLst>
          </p:cNvPr>
          <p:cNvSpPr>
            <a:spLocks noGrp="1"/>
          </p:cNvSpPr>
          <p:nvPr>
            <p:ph type="title"/>
          </p:nvPr>
        </p:nvSpPr>
        <p:spPr/>
        <p:txBody>
          <a:bodyPr/>
          <a:lstStyle/>
          <a:p>
            <a:r>
              <a:rPr lang="en-US" dirty="0"/>
              <a:t>Query monitoring</a:t>
            </a:r>
          </a:p>
        </p:txBody>
      </p:sp>
      <p:sp>
        <p:nvSpPr>
          <p:cNvPr id="3" name="Content Placeholder 2">
            <a:extLst>
              <a:ext uri="{FF2B5EF4-FFF2-40B4-BE49-F238E27FC236}">
                <a16:creationId xmlns:a16="http://schemas.microsoft.com/office/drawing/2014/main" id="{349F33DB-160C-3EE0-F28E-009A6408AF74}"/>
              </a:ext>
            </a:extLst>
          </p:cNvPr>
          <p:cNvSpPr>
            <a:spLocks noGrp="1"/>
          </p:cNvSpPr>
          <p:nvPr>
            <p:ph idx="1"/>
          </p:nvPr>
        </p:nvSpPr>
        <p:spPr/>
        <p:txBody>
          <a:bodyPr/>
          <a:lstStyle/>
          <a:p>
            <a:pPr algn="l">
              <a:buNone/>
            </a:pPr>
            <a:r>
              <a:rPr lang="en-US" b="0" i="0" dirty="0">
                <a:solidFill>
                  <a:srgbClr val="161616"/>
                </a:solidFill>
                <a:effectLst/>
                <a:latin typeface="Segoe UI" panose="020B0502040204020203" pitchFamily="34" charset="0"/>
              </a:rPr>
              <a:t>Use '</a:t>
            </a:r>
            <a:r>
              <a:rPr lang="en-US" b="0" i="0" dirty="0" err="1">
                <a:solidFill>
                  <a:srgbClr val="161616"/>
                </a:solidFill>
                <a:effectLst/>
                <a:latin typeface="Segoe UI" panose="020B0502040204020203" pitchFamily="34" charset="0"/>
              </a:rPr>
              <a:t>sys.dm_exec_requests</a:t>
            </a:r>
            <a:r>
              <a:rPr lang="en-US" b="0" i="0" dirty="0">
                <a:solidFill>
                  <a:srgbClr val="161616"/>
                </a:solidFill>
                <a:effectLst/>
                <a:latin typeface="Segoe UI" panose="020B0502040204020203" pitchFamily="34" charset="0"/>
              </a:rPr>
              <a:t>' to identify long-running queries that may be impacting the overall performance of the database, and take appropriate action to optimize or terminate those queries.</a:t>
            </a:r>
          </a:p>
          <a:p>
            <a:pPr algn="l"/>
            <a:r>
              <a:rPr lang="en-US" b="0" i="0" dirty="0">
                <a:solidFill>
                  <a:srgbClr val="161616"/>
                </a:solidFill>
                <a:effectLst/>
                <a:latin typeface="Segoe UI" panose="020B0502040204020203" pitchFamily="34" charset="0"/>
              </a:rPr>
              <a:t>Start by identifying the queries that have been running for a long time. Use the following query to identify which queries have been running the longest, in descending order:</a:t>
            </a:r>
          </a:p>
          <a:p>
            <a:endParaRPr lang="en-US" dirty="0"/>
          </a:p>
        </p:txBody>
      </p:sp>
    </p:spTree>
    <p:extLst>
      <p:ext uri="{BB962C8B-B14F-4D97-AF65-F5344CB8AC3E}">
        <p14:creationId xmlns:p14="http://schemas.microsoft.com/office/powerpoint/2010/main" val="21187117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0A901D-71C3-792A-8534-2B4E08ED6A3C}"/>
              </a:ext>
            </a:extLst>
          </p:cNvPr>
          <p:cNvPicPr>
            <a:picLocks noChangeAspect="1"/>
          </p:cNvPicPr>
          <p:nvPr/>
        </p:nvPicPr>
        <p:blipFill>
          <a:blip r:embed="rId2"/>
          <a:stretch>
            <a:fillRect/>
          </a:stretch>
        </p:blipFill>
        <p:spPr>
          <a:xfrm>
            <a:off x="909092" y="397933"/>
            <a:ext cx="10228336" cy="5475593"/>
          </a:xfrm>
          <a:prstGeom prst="rect">
            <a:avLst/>
          </a:prstGeom>
        </p:spPr>
      </p:pic>
    </p:spTree>
    <p:extLst>
      <p:ext uri="{BB962C8B-B14F-4D97-AF65-F5344CB8AC3E}">
        <p14:creationId xmlns:p14="http://schemas.microsoft.com/office/powerpoint/2010/main" val="42691960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6224E-0EDF-32C9-138D-4EE176014CD5}"/>
              </a:ext>
            </a:extLst>
          </p:cNvPr>
          <p:cNvSpPr>
            <a:spLocks noGrp="1"/>
          </p:cNvSpPr>
          <p:nvPr>
            <p:ph type="title"/>
          </p:nvPr>
        </p:nvSpPr>
        <p:spPr/>
        <p:txBody>
          <a:bodyPr/>
          <a:lstStyle/>
          <a:p>
            <a:r>
              <a:rPr lang="en-US" dirty="0"/>
              <a:t>Zero copy clone</a:t>
            </a:r>
          </a:p>
        </p:txBody>
      </p:sp>
      <p:sp>
        <p:nvSpPr>
          <p:cNvPr id="3" name="Content Placeholder 2">
            <a:extLst>
              <a:ext uri="{FF2B5EF4-FFF2-40B4-BE49-F238E27FC236}">
                <a16:creationId xmlns:a16="http://schemas.microsoft.com/office/drawing/2014/main" id="{91537FB9-1B11-B972-52F3-985644F77D39}"/>
              </a:ext>
            </a:extLst>
          </p:cNvPr>
          <p:cNvSpPr>
            <a:spLocks noGrp="1"/>
          </p:cNvSpPr>
          <p:nvPr>
            <p:ph idx="1"/>
          </p:nvPr>
        </p:nvSpPr>
        <p:spPr/>
        <p:txBody>
          <a:bodyPr>
            <a:normAutofit fontScale="77500" lnSpcReduction="20000"/>
          </a:bodyPr>
          <a:lstStyle/>
          <a:p>
            <a:r>
              <a:rPr lang="en-US" dirty="0"/>
              <a:t>Zero copy clone is way to copy the table without duplicating the data file of table.</a:t>
            </a:r>
          </a:p>
          <a:p>
            <a:r>
              <a:rPr lang="en-US" dirty="0"/>
              <a:t>A zero-copy clone creates create the replica of the table by copying the metadata, while still referencing the same datafiles in </a:t>
            </a:r>
            <a:r>
              <a:rPr lang="en-US" dirty="0" err="1"/>
              <a:t>Onelake</a:t>
            </a:r>
            <a:endParaRPr lang="en-US" dirty="0"/>
          </a:p>
          <a:p>
            <a:r>
              <a:rPr lang="en-US" dirty="0"/>
              <a:t>The metadata is copied while the underlying data of the table stored as parquet file is not copied</a:t>
            </a:r>
          </a:p>
          <a:p>
            <a:r>
              <a:rPr lang="en-US" dirty="0"/>
              <a:t>This means upon creation a table clone is independent and separate copy of the data from its source.</a:t>
            </a:r>
          </a:p>
          <a:p>
            <a:r>
              <a:rPr lang="en-US" dirty="0"/>
              <a:t>Any changes made on the source of clone table are not reflected in the clone table</a:t>
            </a:r>
          </a:p>
          <a:p>
            <a:r>
              <a:rPr lang="en-US" dirty="0"/>
              <a:t>Similarly, any changes made on the table clone are not reflected on the source of clone table.</a:t>
            </a:r>
          </a:p>
          <a:p>
            <a:endParaRPr lang="en-US" dirty="0"/>
          </a:p>
          <a:p>
            <a:r>
              <a:rPr lang="en-US" dirty="0"/>
              <a:t>Syntax:</a:t>
            </a:r>
          </a:p>
          <a:p>
            <a:pPr marL="0" indent="0">
              <a:buNone/>
            </a:pPr>
            <a:r>
              <a:rPr lang="en-US" i="1" dirty="0">
                <a:highlight>
                  <a:srgbClr val="FFFF00"/>
                </a:highlight>
              </a:rPr>
              <a:t>create table </a:t>
            </a:r>
            <a:r>
              <a:rPr lang="en-US" i="1" dirty="0" err="1">
                <a:highlight>
                  <a:srgbClr val="FFFF00"/>
                </a:highlight>
              </a:rPr>
              <a:t>abc.tbl_clone_name</a:t>
            </a:r>
            <a:r>
              <a:rPr lang="en-US" i="1" dirty="0">
                <a:highlight>
                  <a:srgbClr val="FFFF00"/>
                </a:highlight>
              </a:rPr>
              <a:t> as clone of </a:t>
            </a:r>
            <a:r>
              <a:rPr lang="en-US" i="1" dirty="0" err="1">
                <a:highlight>
                  <a:srgbClr val="FFFF00"/>
                </a:highlight>
              </a:rPr>
              <a:t>table_name</a:t>
            </a:r>
            <a:endParaRPr lang="en-US" i="1" dirty="0">
              <a:highlight>
                <a:srgbClr val="FFFF00"/>
              </a:highlight>
            </a:endParaRPr>
          </a:p>
        </p:txBody>
      </p:sp>
    </p:spTree>
    <p:extLst>
      <p:ext uri="{BB962C8B-B14F-4D97-AF65-F5344CB8AC3E}">
        <p14:creationId xmlns:p14="http://schemas.microsoft.com/office/powerpoint/2010/main" val="36326797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C2557-A9C5-E6DA-B754-0CB4AB29D181}"/>
              </a:ext>
            </a:extLst>
          </p:cNvPr>
          <p:cNvSpPr>
            <a:spLocks noGrp="1"/>
          </p:cNvSpPr>
          <p:nvPr>
            <p:ph type="title"/>
          </p:nvPr>
        </p:nvSpPr>
        <p:spPr/>
        <p:txBody>
          <a:bodyPr/>
          <a:lstStyle/>
          <a:p>
            <a:r>
              <a:rPr lang="en-US" dirty="0"/>
              <a:t>Benefits of zero-copy clone</a:t>
            </a:r>
          </a:p>
        </p:txBody>
      </p:sp>
      <p:sp>
        <p:nvSpPr>
          <p:cNvPr id="3" name="Content Placeholder 2">
            <a:extLst>
              <a:ext uri="{FF2B5EF4-FFF2-40B4-BE49-F238E27FC236}">
                <a16:creationId xmlns:a16="http://schemas.microsoft.com/office/drawing/2014/main" id="{CF494EA6-2802-FD78-DA0D-D496B3B730E1}"/>
              </a:ext>
            </a:extLst>
          </p:cNvPr>
          <p:cNvSpPr>
            <a:spLocks noGrp="1"/>
          </p:cNvSpPr>
          <p:nvPr>
            <p:ph idx="1"/>
          </p:nvPr>
        </p:nvSpPr>
        <p:spPr/>
        <p:txBody>
          <a:bodyPr/>
          <a:lstStyle/>
          <a:p>
            <a:r>
              <a:rPr lang="en-US" dirty="0"/>
              <a:t>Table clone facilitate development and testing processes by creating copies of tables in lower environments</a:t>
            </a:r>
          </a:p>
          <a:p>
            <a:r>
              <a:rPr lang="en-US" dirty="0"/>
              <a:t>Table clones provide consistent reporting and zero-copy duplication of data for analytical workloads and machine learning modeling and testing.</a:t>
            </a:r>
          </a:p>
          <a:p>
            <a:r>
              <a:rPr lang="en-US" dirty="0"/>
              <a:t>Table clones provide the capability of data recovery by retaining the </a:t>
            </a:r>
            <a:r>
              <a:rPr lang="en-US"/>
              <a:t>previous state of the data. </a:t>
            </a:r>
            <a:endParaRPr lang="en-US" dirty="0"/>
          </a:p>
        </p:txBody>
      </p:sp>
    </p:spTree>
    <p:extLst>
      <p:ext uri="{BB962C8B-B14F-4D97-AF65-F5344CB8AC3E}">
        <p14:creationId xmlns:p14="http://schemas.microsoft.com/office/powerpoint/2010/main" val="25840796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2520</Words>
  <Application>Microsoft Office PowerPoint</Application>
  <PresentationFormat>Widescreen</PresentationFormat>
  <Paragraphs>112</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Calibri Light</vt:lpstr>
      <vt:lpstr>Segoe UI</vt:lpstr>
      <vt:lpstr>Office Theme</vt:lpstr>
      <vt:lpstr>Intro_3</vt:lpstr>
      <vt:lpstr>Keys</vt:lpstr>
      <vt:lpstr>Special types of dimension tables</vt:lpstr>
      <vt:lpstr>Data Warehouse Schema design</vt:lpstr>
      <vt:lpstr>  schema type</vt:lpstr>
      <vt:lpstr>Ingest data</vt:lpstr>
      <vt:lpstr>Clone the table</vt:lpstr>
      <vt:lpstr>Staging table</vt:lpstr>
      <vt:lpstr>Load process</vt:lpstr>
      <vt:lpstr>PowerPoint Presentation</vt:lpstr>
      <vt:lpstr>PowerPoint Presentation</vt:lpstr>
      <vt:lpstr>Loading the data</vt:lpstr>
      <vt:lpstr>Steps to upload</vt:lpstr>
      <vt:lpstr>PowerPoint Presentation</vt:lpstr>
      <vt:lpstr>PowerPoint Presentation</vt:lpstr>
      <vt:lpstr>PowerPoint Presentation</vt:lpstr>
      <vt:lpstr>Query and transform the data</vt:lpstr>
      <vt:lpstr>Prepare data for analysis and reporting</vt:lpstr>
      <vt:lpstr>PowerPoint Presentation</vt:lpstr>
      <vt:lpstr>Query data using the SQL query editor</vt:lpstr>
      <vt:lpstr>Build relationships</vt:lpstr>
      <vt:lpstr>Create measures </vt:lpstr>
      <vt:lpstr>Hide fields</vt:lpstr>
      <vt:lpstr>Semantic model</vt:lpstr>
      <vt:lpstr>Default semantic model</vt:lpstr>
      <vt:lpstr>Secure and monitor your data warehouse</vt:lpstr>
      <vt:lpstr>Permission</vt:lpstr>
      <vt:lpstr>Item permission</vt:lpstr>
      <vt:lpstr>Monitoring</vt:lpstr>
      <vt:lpstr>Query monitoring</vt:lpstr>
      <vt:lpstr>PowerPoint Presentation</vt:lpstr>
      <vt:lpstr>Zero copy clone</vt:lpstr>
      <vt:lpstr>Benefits of zero-copy clone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Intro_3</dc:title>
  <dc:creator>Amrita Helwade</dc:creator>
  <cp:lastModifiedBy>Amrita Helwade</cp:lastModifiedBy>
  <cp:revision>1</cp:revision>
  <dcterms:created xsi:type="dcterms:W3CDTF">2026-02-15T07:47:05Z</dcterms:created>
  <dcterms:modified xsi:type="dcterms:W3CDTF">2026-02-15T07:47:50Z</dcterms:modified>
</cp:coreProperties>
</file>